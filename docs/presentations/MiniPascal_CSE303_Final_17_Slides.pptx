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35c592717343ab" /><Relationship Type="http://schemas.openxmlformats.org/officeDocument/2006/relationships/extended-properties" Target="/docProps/app.xml" Id="Reb8834561c2245f2" /><Relationship Type="http://schemas.openxmlformats.org/officeDocument/2006/relationships/officeDocument" Target="/ppt/presentation.xml" Id="R5f99de0e401145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c78170134c4aef"/>
  </p:sldMasterIdLst>
  <p:notesMasterIdLst>
    <p:notesMasterId xmlns:r="http://schemas.openxmlformats.org/officeDocument/2006/relationships" r:id="R143b4f4442c34a86"/>
  </p:notesMasterIdLst>
  <p:sldIdLst>
    <p:sldId xmlns:r="http://schemas.openxmlformats.org/officeDocument/2006/relationships" id="256" r:id="R4ca4454356284b3e"/>
    <p:sldId xmlns:r="http://schemas.openxmlformats.org/officeDocument/2006/relationships" id="257" r:id="R7524ef5fd8df4b37"/>
    <p:sldId xmlns:r="http://schemas.openxmlformats.org/officeDocument/2006/relationships" id="258" r:id="R20b97cb3ca9e4462"/>
    <p:sldId xmlns:r="http://schemas.openxmlformats.org/officeDocument/2006/relationships" id="259" r:id="R256433fc1a844f8c"/>
    <p:sldId xmlns:r="http://schemas.openxmlformats.org/officeDocument/2006/relationships" id="260" r:id="R3c2a96a092ba4901"/>
    <p:sldId xmlns:r="http://schemas.openxmlformats.org/officeDocument/2006/relationships" id="261" r:id="Rdf67d45c637244a5"/>
    <p:sldId xmlns:r="http://schemas.openxmlformats.org/officeDocument/2006/relationships" id="262" r:id="R4899d81c33214c45"/>
    <p:sldId xmlns:r="http://schemas.openxmlformats.org/officeDocument/2006/relationships" id="263" r:id="R88089c2b6aaf4f3c"/>
    <p:sldId xmlns:r="http://schemas.openxmlformats.org/officeDocument/2006/relationships" id="264" r:id="R434002b051e74443"/>
    <p:sldId xmlns:r="http://schemas.openxmlformats.org/officeDocument/2006/relationships" id="265" r:id="R2044f03a46aa4c82"/>
    <p:sldId xmlns:r="http://schemas.openxmlformats.org/officeDocument/2006/relationships" id="266" r:id="R84e9f59e9535486d"/>
    <p:sldId xmlns:r="http://schemas.openxmlformats.org/officeDocument/2006/relationships" id="267" r:id="R1bd5670d257f4bf6"/>
    <p:sldId xmlns:r="http://schemas.openxmlformats.org/officeDocument/2006/relationships" id="268" r:id="R09a0d605c85b4653"/>
    <p:sldId xmlns:r="http://schemas.openxmlformats.org/officeDocument/2006/relationships" id="269" r:id="Re43e5e22c7024ff8"/>
    <p:sldId xmlns:r="http://schemas.openxmlformats.org/officeDocument/2006/relationships" id="270" r:id="R9b0aa3db099b4a2b"/>
    <p:sldId xmlns:r="http://schemas.openxmlformats.org/officeDocument/2006/relationships" id="271" r:id="R925a50048d974206"/>
    <p:sldId xmlns:r="http://schemas.openxmlformats.org/officeDocument/2006/relationships" id="272" r:id="R01cdb8a935a144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2787e1daee404a" /><Relationship Type="http://schemas.openxmlformats.org/officeDocument/2006/relationships/slideMaster" Target="/ppt/slideMasters/slideMaster1.xml" Id="Raec78170134c4aef" /><Relationship Type="http://schemas.openxmlformats.org/officeDocument/2006/relationships/notesMaster" Target="/ppt/notesMasters/notesMaster1.xml" Id="R143b4f4442c34a86" /><Relationship Type="http://schemas.openxmlformats.org/officeDocument/2006/relationships/presProps" Target="/ppt/presProps.xml" Id="R1fa9bd9a53394959" /><Relationship Type="http://schemas.openxmlformats.org/officeDocument/2006/relationships/tableStyles" Target="/ppt/tableStyles.xml" Id="R1948c3cac9324e4f" /><Relationship Type="http://schemas.openxmlformats.org/officeDocument/2006/relationships/slide" Target="/ppt/slides/slide1.xml" Id="R4ca4454356284b3e" /><Relationship Type="http://schemas.openxmlformats.org/officeDocument/2006/relationships/slide" Target="/ppt/slides/slide2.xml" Id="R7524ef5fd8df4b37" /><Relationship Type="http://schemas.openxmlformats.org/officeDocument/2006/relationships/slide" Target="/ppt/slides/slide3.xml" Id="R20b97cb3ca9e4462" /><Relationship Type="http://schemas.openxmlformats.org/officeDocument/2006/relationships/slide" Target="/ppt/slides/slide4.xml" Id="R256433fc1a844f8c" /><Relationship Type="http://schemas.openxmlformats.org/officeDocument/2006/relationships/slide" Target="/ppt/slides/slide5.xml" Id="R3c2a96a092ba4901" /><Relationship Type="http://schemas.openxmlformats.org/officeDocument/2006/relationships/slide" Target="/ppt/slides/slide6.xml" Id="Rdf67d45c637244a5" /><Relationship Type="http://schemas.openxmlformats.org/officeDocument/2006/relationships/slide" Target="/ppt/slides/slide7.xml" Id="R4899d81c33214c45" /><Relationship Type="http://schemas.openxmlformats.org/officeDocument/2006/relationships/slide" Target="/ppt/slides/slide8.xml" Id="R88089c2b6aaf4f3c" /><Relationship Type="http://schemas.openxmlformats.org/officeDocument/2006/relationships/slide" Target="/ppt/slides/slide9.xml" Id="R434002b051e74443" /><Relationship Type="http://schemas.openxmlformats.org/officeDocument/2006/relationships/slide" Target="/ppt/slides/slide10.xml" Id="R2044f03a46aa4c82" /><Relationship Type="http://schemas.openxmlformats.org/officeDocument/2006/relationships/slide" Target="/ppt/slides/slide11.xml" Id="R84e9f59e9535486d" /><Relationship Type="http://schemas.openxmlformats.org/officeDocument/2006/relationships/slide" Target="/ppt/slides/slide12.xml" Id="R1bd5670d257f4bf6" /><Relationship Type="http://schemas.openxmlformats.org/officeDocument/2006/relationships/slide" Target="/ppt/slides/slide13.xml" Id="R09a0d605c85b4653" /><Relationship Type="http://schemas.openxmlformats.org/officeDocument/2006/relationships/slide" Target="/ppt/slides/slide14.xml" Id="Re43e5e22c7024ff8" /><Relationship Type="http://schemas.openxmlformats.org/officeDocument/2006/relationships/slide" Target="/ppt/slides/slide15.xml" Id="R9b0aa3db099b4a2b" /><Relationship Type="http://schemas.openxmlformats.org/officeDocument/2006/relationships/slide" Target="/ppt/slides/slide16.xml" Id="R925a50048d974206" /><Relationship Type="http://schemas.openxmlformats.org/officeDocument/2006/relationships/slide" Target="/ppt/slides/slide17.xml" Id="R01cdb8a935a144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a68d7325754c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16c149b0614efd" /><Relationship Type="http://schemas.openxmlformats.org/officeDocument/2006/relationships/notesMaster" Target="/ppt/notesMasters/notesMaster1.xml" Id="Rfe0ee534e39c43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c901bcb17a4c9f" /><Relationship Type="http://schemas.openxmlformats.org/officeDocument/2006/relationships/notesMaster" Target="/ppt/notesMasters/notesMaster1.xml" Id="R2785a640af9449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d339bd0fcc4a42" /><Relationship Type="http://schemas.openxmlformats.org/officeDocument/2006/relationships/notesMaster" Target="/ppt/notesMasters/notesMaster1.xml" Id="Rb4a1cae8656347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616d9813bc4a49" /><Relationship Type="http://schemas.openxmlformats.org/officeDocument/2006/relationships/notesMaster" Target="/ppt/notesMasters/notesMaster1.xml" Id="R17698088a23745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e964cfe8844adf" /><Relationship Type="http://schemas.openxmlformats.org/officeDocument/2006/relationships/notesMaster" Target="/ppt/notesMasters/notesMaster1.xml" Id="Re188a5dc63b649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8d5a21645e4bfb" /><Relationship Type="http://schemas.openxmlformats.org/officeDocument/2006/relationships/notesMaster" Target="/ppt/notesMasters/notesMaster1.xml" Id="R28f4201002054e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7c3a9eb5df4afc" /><Relationship Type="http://schemas.openxmlformats.org/officeDocument/2006/relationships/notesMaster" Target="/ppt/notesMasters/notesMaster1.xml" Id="Re4a2cca91acc4d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83fc7bf0b34fc3" /><Relationship Type="http://schemas.openxmlformats.org/officeDocument/2006/relationships/notesMaster" Target="/ppt/notesMasters/notesMaster1.xml" Id="Rd83a4e906e234a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8e01bf1ba94832" /><Relationship Type="http://schemas.openxmlformats.org/officeDocument/2006/relationships/notesMaster" Target="/ppt/notesMasters/notesMaster1.xml" Id="R504fb1a495a243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bd2557d5034f2e" /><Relationship Type="http://schemas.openxmlformats.org/officeDocument/2006/relationships/notesMaster" Target="/ppt/notesMasters/notesMaster1.xml" Id="R3f9a205e50a3463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aa1802a1154827" /><Relationship Type="http://schemas.openxmlformats.org/officeDocument/2006/relationships/notesMaster" Target="/ppt/notesMasters/notesMaster1.xml" Id="Rb4be8b58384f42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cbb42fc80b4408" /><Relationship Type="http://schemas.openxmlformats.org/officeDocument/2006/relationships/notesMaster" Target="/ppt/notesMasters/notesMaster1.xml" Id="Rc0644bec55964d5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05d6025e43a4c37" /><Relationship Type="http://schemas.openxmlformats.org/officeDocument/2006/relationships/notesMaster" Target="/ppt/notesMasters/notesMaster1.xml" Id="R282bfcb7624c452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6fc46d9a4914547" /><Relationship Type="http://schemas.openxmlformats.org/officeDocument/2006/relationships/notesMaster" Target="/ppt/notesMasters/notesMaster1.xml" Id="Rea070377e3894d0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247cc0172d148e8" /><Relationship Type="http://schemas.openxmlformats.org/officeDocument/2006/relationships/notesMaster" Target="/ppt/notesMasters/notesMaster1.xml" Id="Ra711c306a58f4e5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7c2aa29da85484c" /><Relationship Type="http://schemas.openxmlformats.org/officeDocument/2006/relationships/notesMaster" Target="/ppt/notesMasters/notesMaster1.xml" Id="R687aabe4c16647a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18c70b1c13a4748" /><Relationship Type="http://schemas.openxmlformats.org/officeDocument/2006/relationships/notesMaster" Target="/ppt/notesMasters/notesMaster1.xml" Id="R6789ebdb070c44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MiniPascal presentation; no external sources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MiniPascal presentation; no external sources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MiniPascal presentation; no external sources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MiniPascal presentation; no external sources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MiniPascal presentation; no external sources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MiniPascal presentation; no external sources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MiniPascal presentation; no external sources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MiniPascal presentation; no external sources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MiniPascal presentation; no external sources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MiniPascal presentation; no external sources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MiniPascal presentation; no external sources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MiniPascal presentation; no external sources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MiniPascal presentation; no external sources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MiniPascal presentation; no external sources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MiniPascal presentation; no external sources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MiniPascal presentation; no external sources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MiniPascal presentation; no external sources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3e484fa66b48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8d9aeab32640ce" /><Relationship Type="http://schemas.openxmlformats.org/officeDocument/2006/relationships/slideLayout" Target="/ppt/slideLayouts/slideLayout1.xml" Id="Ra6f8bce8173e4b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f8bce8173e4b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d2cf20f4046bc" /><Relationship Type="http://schemas.openxmlformats.org/officeDocument/2006/relationships/notesSlide" Target="/ppt/notesSlides/notesSlide1.xml" Id="R66763acc7e1f4c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dde16894f452c" /><Relationship Type="http://schemas.openxmlformats.org/officeDocument/2006/relationships/notesSlide" Target="/ppt/notesSlides/notesSlide2.xml" Id="R804fd6a4a1384f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c56ba443844eb" /><Relationship Type="http://schemas.openxmlformats.org/officeDocument/2006/relationships/notesSlide" Target="/ppt/notesSlides/notesSlide3.xml" Id="R88b285748fd344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e039bf4da944b1" /><Relationship Type="http://schemas.openxmlformats.org/officeDocument/2006/relationships/notesSlide" Target="/ppt/notesSlides/notesSlide4.xml" Id="R63b9cfa19c014e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95e532f1a4de3" /><Relationship Type="http://schemas.openxmlformats.org/officeDocument/2006/relationships/notesSlide" Target="/ppt/notesSlides/notesSlide5.xml" Id="R9f93193a000244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b3e1247ab40eb" /><Relationship Type="http://schemas.openxmlformats.org/officeDocument/2006/relationships/notesSlide" Target="/ppt/notesSlides/notesSlide6.xml" Id="Rc66f066af9dc4f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983680c584e8a" /><Relationship Type="http://schemas.openxmlformats.org/officeDocument/2006/relationships/notesSlide" Target="/ppt/notesSlides/notesSlide7.xml" Id="Rf7eebec867eb41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8d9d939e54a9a" /><Relationship Type="http://schemas.openxmlformats.org/officeDocument/2006/relationships/notesSlide" Target="/ppt/notesSlides/notesSlide8.xml" Id="R1941e94a92e748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35bfcbcdb4a02" /><Relationship Type="http://schemas.openxmlformats.org/officeDocument/2006/relationships/notesSlide" Target="/ppt/notesSlides/notesSlide9.xml" Id="Rce7279138a794d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216d7366d4905" /><Relationship Type="http://schemas.openxmlformats.org/officeDocument/2006/relationships/notesSlide" Target="/ppt/notesSlides/notesSlide10.xml" Id="R314f91f5b66c4b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7d5d497b542fa" /><Relationship Type="http://schemas.openxmlformats.org/officeDocument/2006/relationships/notesSlide" Target="/ppt/notesSlides/notesSlide11.xml" Id="R919020ecb9354c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88c6b56f44b1b" /><Relationship Type="http://schemas.openxmlformats.org/officeDocument/2006/relationships/notesSlide" Target="/ppt/notesSlides/notesSlide12.xml" Id="R69a18e0ba6fd4f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1bea321e04f96" /><Relationship Type="http://schemas.openxmlformats.org/officeDocument/2006/relationships/notesSlide" Target="/ppt/notesSlides/notesSlide13.xml" Id="R957fa03b2bf648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4073812bd4a33" /><Relationship Type="http://schemas.openxmlformats.org/officeDocument/2006/relationships/notesSlide" Target="/ppt/notesSlides/notesSlide14.xml" Id="Rb1697d55f4944ee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0cb30004f414d" /><Relationship Type="http://schemas.openxmlformats.org/officeDocument/2006/relationships/notesSlide" Target="/ppt/notesSlides/notesSlide15.xml" Id="R2f89960a6c2c40a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0a3f07f494a81" /><Relationship Type="http://schemas.openxmlformats.org/officeDocument/2006/relationships/notesSlide" Target="/ppt/notesSlides/notesSlide16.xml" Id="R07bff07b15fc49e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2a2e29aef4454" /><Relationship Type="http://schemas.openxmlformats.org/officeDocument/2006/relationships/notesSlide" Target="/ppt/notesSlides/notesSlide17.xml" Id="Ree4a2d0b226148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83F3AA00-2D24-45A3-AE36-5C47D508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B45"/>
          </a:solidFill>
          <a:ln xmlns:a="http://schemas.openxmlformats.org/drawingml/2006/main" w="14288">
            <a:solidFill>
              <a:srgbClr val="2E5B45"/>
            </a:solidFill>
            <a:prstDash val="solid"/>
          </a:ln>
        </p:spPr>
      </p:sp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F31AFEC6-70BE-4FC8-9DDA-66520EB7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9150"/>
            <a:ext cx="895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45"/>
          </a:solidFill>
          <a:ln xmlns:a="http://schemas.openxmlformats.org/drawingml/2006/main" w="14288">
            <a:solidFill>
              <a:srgbClr val="B65F45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F62D3D7-99D3-47C7-AE3D-EEC09AA0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23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5B45"/>
                </a:solidFill>
              </a:defRPr>
            </a:pPr>
            <a:r>
              <a:rPr sz="975" b="1">
                <a:solidFill>
                  <a:srgbClr val="2E5B45"/>
                </a:solidFill>
              </a:rPr>
              <a:t>CSE 303 — COMPILER DESIGN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D16AADA-8C54-481B-A90F-BA179027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02822"/>
                </a:solidFill>
              </a:defRPr>
            </a:pPr>
            <a:r>
              <a:rPr sz="4200" b="1">
                <a:solidFill>
                  <a:srgbClr val="202822"/>
                </a:solidFill>
              </a:rPr>
              <a:t>MiniPascal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B31393D-8420-4CE7-80C2-77BEB978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57475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97169"/>
                </a:solidFill>
              </a:defRPr>
            </a:pPr>
            <a:r>
              <a:rPr sz="1800" b="0">
                <a:solidFill>
                  <a:srgbClr val="697169"/>
                </a:solidFill>
              </a:rPr>
              <a:t>Design and Development of a Mini Pascal Compiler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B018417-8815-4AFC-BDD6-F9F95EAC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F45"/>
                </a:solidFill>
              </a:defRPr>
            </a:pPr>
            <a:r>
              <a:rPr sz="900" b="1">
                <a:solidFill>
                  <a:srgbClr val="B65F45"/>
                </a:solidFill>
              </a:rPr>
              <a:t>TEAM MEMBERS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0C38A5A-A97D-46E7-9347-A81BCE10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822"/>
                </a:solidFill>
              </a:defRPr>
            </a:pPr>
            <a:r>
              <a:rPr sz="1425" b="1">
                <a:solidFill>
                  <a:srgbClr val="202822"/>
                </a:solidFill>
              </a:rPr>
              <a:t>Najifa Raksanda (202414010)</a:t>
            </a:r>
          </a:p>
          <a:p xmlns:a="http://schemas.openxmlformats.org/drawingml/2006/main">
            <a:pPr algn="l">
              <a:defRPr sz="1425" b="1">
                <a:solidFill>
                  <a:srgbClr val="202822"/>
                </a:solidFill>
              </a:defRPr>
            </a:pPr>
            <a:r>
              <a:rPr sz="1425" b="1">
                <a:solidFill>
                  <a:srgbClr val="202822"/>
                </a:solidFill>
              </a:rPr>
              <a:t>Swagata Mallick (202414031)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4B4F80F-94CD-4931-98D0-416DB8B8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169"/>
                </a:solidFill>
              </a:defRPr>
            </a:pPr>
            <a:r>
              <a:rPr sz="975" b="0">
                <a:solidFill>
                  <a:srgbClr val="697169"/>
                </a:solidFill>
              </a:rPr>
              <a:t>Military Institute of Science and Technology (MIST)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29B334A0-E5A0-467B-8F1A-1CC325B3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428750"/>
            <a:ext cx="1809750" cy="30480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DCE6D9"/>
          </a:solidFill>
          <a:ln xmlns:a="http://schemas.openxmlformats.org/drawingml/2006/main" w="14288">
            <a:solidFill>
              <a:srgbClr val="2E5B45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F299969-ED57-4C43-AEBA-D2CE73BE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790700"/>
            <a:ext cx="12763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5B45"/>
                </a:solidFill>
              </a:defRPr>
            </a:pPr>
            <a:r>
              <a:rPr sz="1875" b="1">
                <a:solidFill>
                  <a:srgbClr val="2E5B45"/>
                </a:solidFill>
              </a:rPr>
              <a:t>SOURCE</a:t>
            </a:r>
          </a:p>
          <a:p xmlns:a="http://schemas.openxmlformats.org/drawingml/2006/main">
            <a:pPr algn="ctr">
              <a:defRPr sz="1875" b="1">
                <a:solidFill>
                  <a:srgbClr val="2E5B45"/>
                </a:solidFill>
              </a:defRPr>
            </a:pPr>
            <a:r>
              <a:rPr sz="1875" b="1">
                <a:solidFill>
                  <a:srgbClr val="2E5B45"/>
                </a:solidFill>
              </a:rPr>
              <a:t>→</a:t>
            </a:r>
          </a:p>
          <a:p xmlns:a="http://schemas.openxmlformats.org/drawingml/2006/main">
            <a:pPr algn="ctr">
              <a:defRPr sz="1875" b="1">
                <a:solidFill>
                  <a:srgbClr val="2E5B45"/>
                </a:solidFill>
              </a:defRPr>
            </a:pPr>
            <a:r>
              <a:rPr sz="1875" b="1">
                <a:solidFill>
                  <a:srgbClr val="2E5B45"/>
                </a:solidFill>
              </a:rPr>
              <a:t>CHECKS</a:t>
            </a:r>
          </a:p>
          <a:p xmlns:a="http://schemas.openxmlformats.org/drawingml/2006/main">
            <a:pPr algn="ctr">
              <a:defRPr sz="1875" b="1">
                <a:solidFill>
                  <a:srgbClr val="2E5B45"/>
                </a:solidFill>
              </a:defRPr>
            </a:pPr>
            <a:r>
              <a:rPr sz="1875" b="1">
                <a:solidFill>
                  <a:srgbClr val="2E5B45"/>
                </a:solidFill>
              </a:rPr>
              <a:t>→</a:t>
            </a:r>
          </a:p>
          <a:p xmlns:a="http://schemas.openxmlformats.org/drawingml/2006/main">
            <a:pPr algn="ctr">
              <a:defRPr sz="1875" b="1">
                <a:solidFill>
                  <a:srgbClr val="2E5B45"/>
                </a:solidFill>
              </a:defRPr>
            </a:pPr>
            <a:r>
              <a:rPr sz="1875" b="1">
                <a:solidFill>
                  <a:srgbClr val="2E5B45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6286827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C70EBA19-D4F9-4811-A33F-1BED3E35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5B45"/>
                </a:solidFill>
              </a:defRPr>
            </a:pPr>
            <a:r>
              <a:rPr sz="900" b="1">
                <a:solidFill>
                  <a:srgbClr val="2E5B45"/>
                </a:solidFill>
              </a:rPr>
              <a:t>MINIPASCAL · CSE 303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E03B658-1204-4193-8C8F-589CD301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22"/>
                </a:solidFill>
              </a:defRPr>
            </a:pPr>
            <a:r>
              <a:rPr sz="2550" b="1">
                <a:solidFill>
                  <a:srgbClr val="202822"/>
                </a:solidFill>
              </a:rPr>
              <a:t>Project Overview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78C3A07-ECBA-4CE8-82F2-C499EA0B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2"/>
          </a:solidFill>
          <a:ln xmlns:a="http://schemas.openxmlformats.org/drawingml/2006/main" w="14288">
            <a:solidFill>
              <a:srgbClr val="202822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6EFE3AE-621B-4F22-9843-000ECC66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169"/>
                </a:solidFill>
              </a:defRPr>
            </a:pPr>
            <a:r>
              <a:rPr sz="750" b="0">
                <a:solidFill>
                  <a:srgbClr val="697169"/>
                </a:solidFill>
              </a:rPr>
              <a:t>MIST  |  CSE 303  |  Compiler Design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5077D4D-2E45-4E1C-9361-D6F5150E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169"/>
                </a:solidFill>
              </a:defRPr>
            </a:pPr>
            <a:r>
              <a:rPr sz="750" b="0">
                <a:solidFill>
                  <a:srgbClr val="697169"/>
                </a:solidFill>
              </a:rPr>
              <a:t>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0F04843-A3E7-4686-B755-364A193D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F45"/>
                </a:solidFill>
              </a:defRPr>
            </a:pPr>
            <a:r>
              <a:rPr sz="900" b="1">
                <a:solidFill>
                  <a:srgbClr val="B65F45"/>
                </a:solidFill>
              </a:rPr>
              <a:t>WHAT ARE WE BUILDING?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C8E5E15-A4D5-4806-A7C1-BF58D4A5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822"/>
                </a:solidFill>
              </a:defRPr>
            </a:pPr>
            <a:r>
              <a:rPr sz="1725" b="1">
                <a:solidFill>
                  <a:srgbClr val="202822"/>
                </a:solidFill>
              </a:rPr>
              <a:t>A functional Mini Pascal compiler that processes source code through the major compiler stages and produces runnable output.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BFFE333-5A46-483C-A14F-5588D281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65F45"/>
                </a:solidFill>
              </a:defRPr>
            </a:pPr>
            <a:r>
              <a:rPr sz="1200" b="1">
                <a:solidFill>
                  <a:srgbClr val="B65F45"/>
                </a:solidFill>
              </a:rPr>
              <a:t>01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C428B41-A59C-4473-8DC4-9E5BF90E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241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5B45"/>
                </a:solidFill>
              </a:defRPr>
            </a:pPr>
            <a:r>
              <a:rPr sz="1650" b="1">
                <a:solidFill>
                  <a:srgbClr val="2E5B45"/>
                </a:solidFill>
              </a:rPr>
              <a:t>Input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ABC12E96-1E05-456F-AC08-0171B137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3143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4288">
            <a:solidFill>
              <a:srgbClr val="A8A79E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8202542-4B4E-4901-954A-F9011D04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276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822"/>
                </a:solidFill>
              </a:defRPr>
            </a:pPr>
            <a:r>
              <a:rPr sz="1275" b="0">
                <a:solidFill>
                  <a:srgbClr val="202822"/>
                </a:solidFill>
              </a:rPr>
              <a:t>MiniPascal source code written in a simplified Pascal-like language.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301D509-6B5D-4E76-8BFE-91CEBCCB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813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65F45"/>
                </a:solidFill>
              </a:defRPr>
            </a:pPr>
            <a:r>
              <a:rPr sz="1200" b="1">
                <a:solidFill>
                  <a:srgbClr val="B65F45"/>
                </a:solidFill>
              </a:rPr>
              <a:t>02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B018539-7833-4379-B0CF-79A83EC0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241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5B45"/>
                </a:solidFill>
              </a:defRPr>
            </a:pPr>
            <a:r>
              <a:rPr sz="1650" b="1">
                <a:solidFill>
                  <a:srgbClr val="2E5B45"/>
                </a:solidFill>
              </a:rPr>
              <a:t>Compiler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59370162-6613-4ECE-8EE0-2C793ACA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00400"/>
            <a:ext cx="3143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4288">
            <a:solidFill>
              <a:srgbClr val="A8A79E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3BE60B4-D703-486A-9092-6E357471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90900"/>
            <a:ext cx="276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822"/>
                </a:solidFill>
              </a:defRPr>
            </a:pPr>
            <a:r>
              <a:rPr sz="1275" b="0">
                <a:solidFill>
                  <a:srgbClr val="202822"/>
                </a:solidFill>
              </a:rPr>
              <a:t>Lexer, parser, AST, semantic analysis, symbol table, IR generation and backend.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39C9EA7-9FE4-4995-8EAD-38580F5C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65F45"/>
                </a:solidFill>
              </a:defRPr>
            </a:pPr>
            <a:r>
              <a:rPr sz="1200" b="1">
                <a:solidFill>
                  <a:srgbClr val="B65F45"/>
                </a:solidFill>
              </a:rPr>
              <a:t>03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EE84703-21AB-4BA1-8E4C-E9DD3DA3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5B45"/>
                </a:solidFill>
              </a:defRPr>
            </a:pPr>
            <a:r>
              <a:rPr sz="1650" b="1">
                <a:solidFill>
                  <a:srgbClr val="2E5B45"/>
                </a:solidFill>
              </a:rPr>
              <a:t>Output</a:t>
            </a:r>
          </a:p>
        </p:txBody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B82B2F08-AEDC-4353-99BE-AB959C8B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00400"/>
            <a:ext cx="3143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4288">
            <a:solidFill>
              <a:srgbClr val="A8A79E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180C7DB-D351-495F-B8D6-D837D79B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90900"/>
            <a:ext cx="276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822"/>
                </a:solidFill>
              </a:defRPr>
            </a:pPr>
            <a:r>
              <a:rPr sz="1275" b="0">
                <a:solidFill>
                  <a:srgbClr val="202822"/>
                </a:solidFill>
              </a:rPr>
              <a:t>Validated program, intermediate representation and runnable output.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03F048D-2E36-4930-BAF7-83BF1955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5B45"/>
                </a:solidFill>
              </a:defRPr>
            </a:pPr>
            <a:r>
              <a:rPr sz="1500" b="1">
                <a:solidFill>
                  <a:srgbClr val="2E5B45"/>
                </a:solidFill>
              </a:rPr>
              <a:t>Main question: "What happens after we write MiniPascal source code?"</a:t>
            </a:r>
          </a:p>
        </p:txBody>
      </p:sp>
    </p:spTree>
    <p:extLst>
      <p:ext uri="{BB962C8B-B14F-4D97-AF65-F5344CB8AC3E}">
        <p14:creationId xmlns:p14="http://schemas.microsoft.com/office/powerpoint/2010/main" val="3748488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C396BF5E-0C3D-49B9-B138-7EABF500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5B45"/>
                </a:solidFill>
              </a:defRPr>
            </a:pPr>
            <a:r>
              <a:rPr sz="900" b="1">
                <a:solidFill>
                  <a:srgbClr val="2E5B45"/>
                </a:solidFill>
              </a:rPr>
              <a:t>MINIPASCAL · CSE 303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A7D578F-EAE2-4C93-85A0-66A46ED8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22"/>
                </a:solidFill>
              </a:defRPr>
            </a:pPr>
            <a:r>
              <a:rPr sz="2550" b="1">
                <a:solidFill>
                  <a:srgbClr val="202822"/>
                </a:solidFill>
              </a:rPr>
              <a:t>Objectives and Scope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72B31B5-310A-4CA0-82ED-EC43B8BC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2"/>
          </a:solidFill>
          <a:ln xmlns:a="http://schemas.openxmlformats.org/drawingml/2006/main" w="14288">
            <a:solidFill>
              <a:srgbClr val="202822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491AFF4-D488-49BD-B03D-0E3F40CB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169"/>
                </a:solidFill>
              </a:defRPr>
            </a:pPr>
            <a:r>
              <a:rPr sz="750" b="0">
                <a:solidFill>
                  <a:srgbClr val="697169"/>
                </a:solidFill>
              </a:rPr>
              <a:t>MIST  |  CSE 303  |  Compiler Design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6748AEB-AA7E-4CE6-A2ED-D957C3F7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169"/>
                </a:solidFill>
              </a:defRPr>
            </a:pPr>
            <a:r>
              <a:rPr sz="750" b="0">
                <a:solidFill>
                  <a:srgbClr val="697169"/>
                </a:solidFill>
              </a:rPr>
              <a:t>3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C8D7DC3-EC57-48F7-A7E8-F96C365C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F45"/>
                </a:solidFill>
              </a:defRPr>
            </a:pPr>
            <a:r>
              <a:rPr sz="900" b="1">
                <a:solidFill>
                  <a:srgbClr val="B65F45"/>
                </a:solidFill>
              </a:rPr>
              <a:t>OBJECTIVES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DEA7AC2-B4D0-483B-A45F-5204EC73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F45"/>
                </a:solidFill>
              </a:defRPr>
            </a:pPr>
            <a:r>
              <a:rPr sz="900" b="1">
                <a:solidFill>
                  <a:srgbClr val="B65F45"/>
                </a:solidFill>
              </a:rPr>
              <a:t>SCOPE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0BB9F24-394F-49C3-9D28-80EC7B46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65F45"/>
                </a:solidFill>
              </a:defRPr>
            </a:pPr>
            <a:r>
              <a:rPr sz="1200" b="1">
                <a:solidFill>
                  <a:srgbClr val="B65F45"/>
                </a:solidFill>
              </a:rPr>
              <a:t>01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1597B9E-DF03-48C0-8750-CEE242EC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76425"/>
            <a:ext cx="438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822"/>
                </a:solidFill>
              </a:defRPr>
            </a:pPr>
            <a:r>
              <a:rPr sz="1350" b="1">
                <a:solidFill>
                  <a:srgbClr val="202822"/>
                </a:solidFill>
              </a:rPr>
              <a:t>Translate a Pascal-like source program through each compiler stage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F2452D4-34C8-4199-9771-68D60D89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65F45"/>
                </a:solidFill>
              </a:defRPr>
            </a:pPr>
            <a:r>
              <a:rPr sz="1200" b="1">
                <a:solidFill>
                  <a:srgbClr val="B65F45"/>
                </a:solidFill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87E7B6A-7524-4426-8B26-3FBE7782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76550"/>
            <a:ext cx="438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822"/>
                </a:solidFill>
              </a:defRPr>
            </a:pPr>
            <a:r>
              <a:rPr sz="1350" b="0">
                <a:solidFill>
                  <a:srgbClr val="202822"/>
                </a:solidFill>
              </a:rPr>
              <a:t>Detect lexical, syntax and semantic errors at the correct stage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5CEEB72-D917-41A1-BEA1-52420CB0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528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65F45"/>
                </a:solidFill>
              </a:defRPr>
            </a:pPr>
            <a:r>
              <a:rPr sz="1200" b="1">
                <a:solidFill>
                  <a:srgbClr val="B65F45"/>
                </a:solidFill>
              </a:rPr>
              <a:t>03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4D4A93E-662E-4F5C-B98F-92080A3D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76675"/>
            <a:ext cx="438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822"/>
                </a:solidFill>
              </a:defRPr>
            </a:pPr>
            <a:r>
              <a:rPr sz="1350" b="0">
                <a:solidFill>
                  <a:srgbClr val="202822"/>
                </a:solidFill>
              </a:rPr>
              <a:t>Produce IR and runnable output that can be demonstrated end-to-end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E7974498-5330-4955-A548-CD44A5C2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4762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CE6D9"/>
          </a:solidFill>
          <a:ln xmlns:a="http://schemas.openxmlformats.org/drawingml/2006/main" w="14288">
            <a:solidFill>
              <a:srgbClr val="A8A79E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304122A-C38E-4D61-B801-CEBC19BF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71675"/>
            <a:ext cx="432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822"/>
                </a:solidFill>
              </a:defRPr>
            </a:pPr>
            <a:r>
              <a:rPr sz="1275" b="1">
                <a:solidFill>
                  <a:srgbClr val="202822"/>
                </a:solidFill>
              </a:rPr>
              <a:t>Integer, real and boolean data types</a:t>
            </a:r>
          </a:p>
        </p:txBody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E5F7297F-9A45-4E4B-9070-D1304177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28900"/>
            <a:ext cx="4762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4288">
            <a:solidFill>
              <a:srgbClr val="A8A79E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6B55AA4-E531-4BD4-881F-8996C07F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14625"/>
            <a:ext cx="432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822"/>
                </a:solidFill>
              </a:defRPr>
            </a:pPr>
            <a:r>
              <a:rPr sz="1275" b="1">
                <a:solidFill>
                  <a:srgbClr val="202822"/>
                </a:solidFill>
              </a:rPr>
              <a:t>Declarations, assignment, arithmetic and comparisons</a:t>
            </a:r>
          </a:p>
        </p:txBody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F7C6A309-B0FA-4464-9BED-6C05BD9A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4762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CE6D9"/>
          </a:solidFill>
          <a:ln xmlns:a="http://schemas.openxmlformats.org/drawingml/2006/main" w="14288">
            <a:solidFill>
              <a:srgbClr val="A8A79E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D6E68AD-5A2A-4C71-938C-2E93100F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57575"/>
            <a:ext cx="432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822"/>
                </a:solidFill>
              </a:defRPr>
            </a:pPr>
            <a:r>
              <a:rPr sz="1275" b="1">
                <a:solidFill>
                  <a:srgbClr val="202822"/>
                </a:solidFill>
              </a:rPr>
              <a:t>if / then / else, while / do, write and writeln</a:t>
            </a:r>
          </a:p>
        </p:txBody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6C33BB5D-DDF2-4D77-9CF5-C45AEA61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14800"/>
            <a:ext cx="4762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4288">
            <a:solidFill>
              <a:srgbClr val="A8A79E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003CF86-6823-4275-9E0E-C4024E0F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00525"/>
            <a:ext cx="432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822"/>
                </a:solidFill>
              </a:defRPr>
            </a:pPr>
            <a:r>
              <a:rPr sz="1275" b="1">
                <a:solidFill>
                  <a:srgbClr val="202822"/>
                </a:solidFill>
              </a:rPr>
              <a:t>Lexer, parser, AST, symbol table, IR and backend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DE551BA-C6A6-47E8-A8FF-1B4429AF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5B45"/>
                </a:solidFill>
              </a:defRPr>
            </a:pPr>
            <a:r>
              <a:rPr sz="1350" b="1">
                <a:solidFill>
                  <a:srgbClr val="2E5B45"/>
                </a:solidFill>
              </a:rPr>
              <a:t>Planning boundary: build the compiler incrementally, validate every stage, then demonstrate the complete path.</a:t>
            </a:r>
          </a:p>
        </p:txBody>
      </p:sp>
    </p:spTree>
    <p:extLst>
      <p:ext uri="{BB962C8B-B14F-4D97-AF65-F5344CB8AC3E}">
        <p14:creationId xmlns:p14="http://schemas.microsoft.com/office/powerpoint/2010/main" val="6577842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">
            <a:extLst xmlns:a="http://schemas.openxmlformats.org/drawingml/2006/main">
              <a:ext uri="{FF2B5EF4-FFF2-40B4-BE49-F238E27FC236}">
                <a16:creationId xmlns:a16="http://schemas.microsoft.com/office/drawing/2014/main" id="{9010BF46-10A6-4EEE-8793-B66059F6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5B45"/>
                </a:solidFill>
              </a:defRPr>
            </a:pPr>
            <a:r>
              <a:rPr sz="900" b="1">
                <a:solidFill>
                  <a:srgbClr val="2E5B45"/>
                </a:solidFill>
              </a:rPr>
              <a:t>MINIPASCAL · CSE 303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B1803CA-135C-4755-AEFE-A8C0EC0B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22"/>
                </a:solidFill>
              </a:defRPr>
            </a:pPr>
            <a:r>
              <a:rPr sz="2550" b="1">
                <a:solidFill>
                  <a:srgbClr val="202822"/>
                </a:solidFill>
              </a:rPr>
              <a:t>Project Requirements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8FC71DA-C25F-4964-A780-72231253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2"/>
          </a:solidFill>
          <a:ln xmlns:a="http://schemas.openxmlformats.org/drawingml/2006/main" w="14288">
            <a:solidFill>
              <a:srgbClr val="202822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67B031C-5DED-4168-AC37-57206BC3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169"/>
                </a:solidFill>
              </a:defRPr>
            </a:pPr>
            <a:r>
              <a:rPr sz="750" b="0">
                <a:solidFill>
                  <a:srgbClr val="697169"/>
                </a:solidFill>
              </a:rPr>
              <a:t>MIST  |  CSE 303  |  Compiler Design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38DA08E-207A-45CD-9DD4-26A370FD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169"/>
                </a:solidFill>
              </a:defRPr>
            </a:pPr>
            <a:r>
              <a:rPr sz="750" b="0">
                <a:solidFill>
                  <a:srgbClr val="697169"/>
                </a:solidFill>
              </a:rPr>
              <a:t>4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827062C-A8DE-4D72-B25C-CA6296BB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5F45"/>
                </a:solidFill>
              </a:defRPr>
            </a:pPr>
            <a:r>
              <a:rPr sz="975" b="1">
                <a:solidFill>
                  <a:srgbClr val="B65F45"/>
                </a:solidFill>
              </a:rPr>
              <a:t>LANGUAGE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B9EAE511-7961-459B-80B7-7D8DA4C7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581150"/>
            <a:ext cx="428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9"/>
          </a:solidFill>
          <a:ln xmlns:a="http://schemas.openxmlformats.org/drawingml/2006/main" w="14288">
            <a:solidFill>
              <a:srgbClr val="A8A79E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0E37285-EAD1-4E17-ACAD-B55C8BFA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647825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822"/>
                </a:solidFill>
              </a:defRPr>
            </a:pPr>
            <a:r>
              <a:rPr sz="1275" b="1">
                <a:solidFill>
                  <a:srgbClr val="202822"/>
                </a:solidFill>
              </a:rPr>
              <a:t>Data types: integer, real, boolean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6CC51FC9-F247-4ECE-B229-4A87073A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4476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4288">
            <a:solidFill>
              <a:srgbClr val="A8A79E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74172FB-11B9-48C3-BCDD-43C05917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47825"/>
            <a:ext cx="413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822"/>
                </a:solidFill>
              </a:defRPr>
            </a:pPr>
            <a:r>
              <a:rPr sz="1275" b="1">
                <a:solidFill>
                  <a:srgbClr val="202822"/>
                </a:solidFill>
              </a:rPr>
              <a:t>Variable declaration and assignment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508DA13-C555-4962-91BA-142727CC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5F45"/>
                </a:solidFill>
              </a:defRPr>
            </a:pPr>
            <a:r>
              <a:rPr sz="975" b="1">
                <a:solidFill>
                  <a:srgbClr val="B65F45"/>
                </a:solidFill>
              </a:rPr>
              <a:t>OPERATORS</a:t>
            </a:r>
          </a:p>
        </p:txBody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313F3924-9FF3-4813-B8BA-5E42EB83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19350"/>
            <a:ext cx="428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4288">
            <a:solidFill>
              <a:srgbClr val="A8A79E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08A70F4-4900-4517-B50C-2139F540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86025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822"/>
                </a:solidFill>
              </a:defRPr>
            </a:pPr>
            <a:r>
              <a:rPr sz="1275" b="1">
                <a:solidFill>
                  <a:srgbClr val="202822"/>
                </a:solidFill>
              </a:rPr>
              <a:t>Arithmetic operators: +, −, *, /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5FD9374D-38E0-4948-8FDE-CF3072D1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476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4288">
            <a:solidFill>
              <a:srgbClr val="A8A79E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E15F3F3-F163-4C86-96F7-A1EBED4B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86025"/>
            <a:ext cx="413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822"/>
                </a:solidFill>
              </a:defRPr>
            </a:pPr>
            <a:r>
              <a:rPr sz="1275" b="1">
                <a:solidFill>
                  <a:srgbClr val="202822"/>
                </a:solidFill>
              </a:rPr>
              <a:t>Boolean and comparison operators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5E09392-F554-41F4-A0DE-34CD3F93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5F45"/>
                </a:solidFill>
              </a:defRPr>
            </a:pPr>
            <a:r>
              <a:rPr sz="975" b="1">
                <a:solidFill>
                  <a:srgbClr val="B65F45"/>
                </a:solidFill>
              </a:rPr>
              <a:t>CONTROL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771B3CD4-14EC-47A9-BB95-04421D2C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57550"/>
            <a:ext cx="428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9"/>
          </a:solidFill>
          <a:ln xmlns:a="http://schemas.openxmlformats.org/drawingml/2006/main" w="14288">
            <a:solidFill>
              <a:srgbClr val="A8A79E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D2351AD-2137-494E-9A9F-2FADBA6C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24225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822"/>
                </a:solidFill>
              </a:defRPr>
            </a:pPr>
            <a:r>
              <a:rPr sz="1275" b="1">
                <a:solidFill>
                  <a:srgbClr val="202822"/>
                </a:solidFill>
              </a:rPr>
              <a:t>if / then / else and while / do</a:t>
            </a:r>
          </a:p>
        </p:txBody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6007408B-469E-40BC-A3CB-96DA188D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57550"/>
            <a:ext cx="4476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4288">
            <a:solidFill>
              <a:srgbClr val="A8A79E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2619021-2CAB-45B9-AADF-61250497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24225"/>
            <a:ext cx="413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822"/>
                </a:solidFill>
              </a:defRPr>
            </a:pPr>
            <a:r>
              <a:rPr sz="1275" b="1">
                <a:solidFill>
                  <a:srgbClr val="202822"/>
                </a:solidFill>
              </a:rPr>
              <a:t>write / writeln output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9EEE3B1-E1ED-4CCA-BF2B-4EBE9932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5F45"/>
                </a:solidFill>
              </a:defRPr>
            </a:pPr>
            <a:r>
              <a:rPr sz="975" b="1">
                <a:solidFill>
                  <a:srgbClr val="B65F45"/>
                </a:solidFill>
              </a:rPr>
              <a:t>COMPILER</a:t>
            </a:r>
          </a:p>
        </p:txBody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002919D6-36AE-4C92-B581-C31D1CBD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428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4288">
            <a:solidFill>
              <a:srgbClr val="A8A79E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17A41A2-53A5-4A40-9C53-A1D64862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62425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822"/>
                </a:solidFill>
              </a:defRPr>
            </a:pPr>
            <a:r>
              <a:rPr sz="1275" b="1">
                <a:solidFill>
                  <a:srgbClr val="202822"/>
                </a:solidFill>
              </a:rPr>
              <a:t>Lexer, parser, AST, semantic analysis</a:t>
            </a:r>
          </a:p>
        </p:txBody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B12BA23E-D01F-4B61-9154-14A41741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4476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4288">
            <a:solidFill>
              <a:srgbClr val="A8A79E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24202F5-DD9D-4ED2-8C0E-8AA793A1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62425"/>
            <a:ext cx="413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822"/>
                </a:solidFill>
              </a:defRPr>
            </a:pPr>
            <a:r>
              <a:rPr sz="1275" b="1">
                <a:solidFill>
                  <a:srgbClr val="202822"/>
                </a:solidFill>
              </a:rPr>
              <a:t>Symbol table, IR generation and backend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C64E4F61-ED95-411E-9BD6-DBD4AC60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339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5F45"/>
                </a:solidFill>
              </a:defRPr>
            </a:pPr>
            <a:r>
              <a:rPr sz="975" b="1">
                <a:solidFill>
                  <a:srgbClr val="B65F45"/>
                </a:solidFill>
              </a:rPr>
              <a:t>QUALITY</a:t>
            </a:r>
          </a:p>
        </p:txBody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258CA137-95C3-4ADA-B2BB-94D7F9C4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33950"/>
            <a:ext cx="428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9"/>
          </a:solidFill>
          <a:ln xmlns:a="http://schemas.openxmlformats.org/drawingml/2006/main" w="14288">
            <a:solidFill>
              <a:srgbClr val="A8A79E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A61A0AE8-0ECB-4E1F-A58E-7374895C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000625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822"/>
                </a:solidFill>
              </a:defRPr>
            </a:pPr>
            <a:r>
              <a:rPr sz="1275" b="1">
                <a:solidFill>
                  <a:srgbClr val="202822"/>
                </a:solidFill>
              </a:rPr>
              <a:t>Stage-level testing</a:t>
            </a:r>
          </a:p>
        </p:txBody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52C95C2B-D970-4887-B1FD-774B93C1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33950"/>
            <a:ext cx="4476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4288">
            <a:solidFill>
              <a:srgbClr val="A8A79E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4F5CE1F2-8415-48C6-AA1E-2F7E46EA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00625"/>
            <a:ext cx="413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822"/>
                </a:solidFill>
              </a:defRPr>
            </a:pPr>
            <a:r>
              <a:rPr sz="1275" b="1">
                <a:solidFill>
                  <a:srgbClr val="202822"/>
                </a:solidFill>
              </a:rPr>
              <a:t>Errors reported at the correct compiler stage</a:t>
            </a:r>
          </a:p>
        </p:txBody>
      </p:sp>
    </p:spTree>
    <p:extLst>
      <p:ext uri="{BB962C8B-B14F-4D97-AF65-F5344CB8AC3E}">
        <p14:creationId xmlns:p14="http://schemas.microsoft.com/office/powerpoint/2010/main" val="11333606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BC73D105-D29D-4FA9-BCDD-F410B204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5B45"/>
                </a:solidFill>
              </a:defRPr>
            </a:pPr>
            <a:r>
              <a:rPr sz="900" b="1">
                <a:solidFill>
                  <a:srgbClr val="2E5B45"/>
                </a:solidFill>
              </a:rPr>
              <a:t>MINIPASCAL · CSE 303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933BBE3-7AEB-49D3-839F-CB49C690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22"/>
                </a:solidFill>
              </a:defRPr>
            </a:pPr>
            <a:r>
              <a:rPr sz="2550" b="1">
                <a:solidFill>
                  <a:srgbClr val="202822"/>
                </a:solidFill>
              </a:rPr>
              <a:t>Language Features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F1C9A7C-D8BA-4C92-8DD8-298A487D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2"/>
          </a:solidFill>
          <a:ln xmlns:a="http://schemas.openxmlformats.org/drawingml/2006/main" w="14288">
            <a:solidFill>
              <a:srgbClr val="202822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45289E5-CE09-411A-8AF9-F6DF9103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169"/>
                </a:solidFill>
              </a:defRPr>
            </a:pPr>
            <a:r>
              <a:rPr sz="750" b="0">
                <a:solidFill>
                  <a:srgbClr val="697169"/>
                </a:solidFill>
              </a:rPr>
              <a:t>MIST  |  CSE 303  |  Compiler Design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61F19E0-AD6E-493A-B05A-8F54FC88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169"/>
                </a:solidFill>
              </a:defRPr>
            </a:pPr>
            <a:r>
              <a:rPr sz="750" b="0">
                <a:solidFill>
                  <a:srgbClr val="697169"/>
                </a:solidFill>
              </a:rPr>
              <a:t>5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613D730-0642-4002-BDD5-C01DD087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7169"/>
                </a:solidFill>
              </a:defRPr>
            </a:pPr>
            <a:r>
              <a:rPr sz="1425" b="0">
                <a:solidFill>
                  <a:srgbClr val="697169"/>
                </a:solidFill>
              </a:rPr>
              <a:t>A small Pascal subset with enough depth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570697E9-116E-42B0-80DA-F59F6ECA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47625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4288">
            <a:solidFill>
              <a:srgbClr val="A8A79E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41C8EF3-A0EB-4779-9806-2742ED7A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F45"/>
                </a:solidFill>
              </a:defRPr>
            </a:pPr>
            <a:r>
              <a:rPr sz="900" b="1">
                <a:solidFill>
                  <a:srgbClr val="B65F45"/>
                </a:solidFill>
              </a:rPr>
              <a:t>SUPPORTED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C3B831D-EC56-4D12-A49C-7562A858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42481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822"/>
                </a:solidFill>
              </a:defRPr>
            </a:pPr>
            <a:r>
              <a:rPr sz="1350" b="0">
                <a:solidFill>
                  <a:srgbClr val="202822"/>
                </a:solidFill>
              </a:rPr>
              <a:t>•  Data types: integer, real, boolean</a:t>
            </a:r>
          </a:p>
          <a:p xmlns:a="http://schemas.openxmlformats.org/drawingml/2006/main">
            <a:pPr algn="l">
              <a:defRPr sz="1350" b="0">
                <a:solidFill>
                  <a:srgbClr val="202822"/>
                </a:solidFill>
              </a:defRPr>
            </a:pPr>
            <a:r>
              <a:rPr sz="1350" b="0">
                <a:solidFill>
                  <a:srgbClr val="202822"/>
                </a:solidFill>
              </a:rPr>
              <a:t>•  Variable declaration and assignment</a:t>
            </a:r>
          </a:p>
          <a:p xmlns:a="http://schemas.openxmlformats.org/drawingml/2006/main">
            <a:pPr algn="l">
              <a:defRPr sz="1350" b="0">
                <a:solidFill>
                  <a:srgbClr val="202822"/>
                </a:solidFill>
              </a:defRPr>
            </a:pPr>
            <a:r>
              <a:rPr sz="1350" b="0">
                <a:solidFill>
                  <a:srgbClr val="202822"/>
                </a:solidFill>
              </a:rPr>
              <a:t>•  Arithmetic operators: +, −, *, /</a:t>
            </a:r>
          </a:p>
          <a:p xmlns:a="http://schemas.openxmlformats.org/drawingml/2006/main">
            <a:pPr algn="l">
              <a:defRPr sz="1350" b="0">
                <a:solidFill>
                  <a:srgbClr val="202822"/>
                </a:solidFill>
              </a:defRPr>
            </a:pPr>
            <a:r>
              <a:rPr sz="1350" b="0">
                <a:solidFill>
                  <a:srgbClr val="202822"/>
                </a:solidFill>
              </a:rPr>
              <a:t>•  Boolean and comparison operators</a:t>
            </a:r>
          </a:p>
          <a:p xmlns:a="http://schemas.openxmlformats.org/drawingml/2006/main">
            <a:pPr algn="l">
              <a:defRPr sz="1350" b="0">
                <a:solidFill>
                  <a:srgbClr val="202822"/>
                </a:solidFill>
              </a:defRPr>
            </a:pPr>
            <a:r>
              <a:rPr sz="1350" b="0">
                <a:solidFill>
                  <a:srgbClr val="202822"/>
                </a:solidFill>
              </a:rPr>
              <a:t>•  if / then / else and while / do</a:t>
            </a:r>
          </a:p>
          <a:p xmlns:a="http://schemas.openxmlformats.org/drawingml/2006/main">
            <a:pPr algn="l">
              <a:defRPr sz="1350" b="0">
                <a:solidFill>
                  <a:srgbClr val="202822"/>
                </a:solidFill>
              </a:defRPr>
            </a:pPr>
            <a:r>
              <a:rPr sz="1350" b="0">
                <a:solidFill>
                  <a:srgbClr val="202822"/>
                </a:solidFill>
              </a:rPr>
              <a:t>•  write / writeln output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E1593DC2-C5FE-4024-8F6B-BE33D089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24050"/>
            <a:ext cx="5238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2"/>
          </a:solidFill>
          <a:ln xmlns:a="http://schemas.openxmlformats.org/drawingml/2006/main" w="14288">
            <a:solidFill>
              <a:srgbClr val="202822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3E10BEE-A3FB-49D1-8C50-D8F29063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52650"/>
            <a:ext cx="46672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DF7"/>
                </a:solidFill>
              </a:defRPr>
            </a:pPr>
            <a:r>
              <a:rPr sz="1350" b="0">
                <a:solidFill>
                  <a:srgbClr val="FFFDF7"/>
                </a:solidFill>
              </a:rPr>
              <a:t>program Demo;</a:t>
            </a:r>
          </a:p>
          <a:p xmlns:a="http://schemas.openxmlformats.org/drawingml/2006/main">
            <a:pPr algn="l">
              <a:defRPr sz="1350" b="0">
                <a:solidFill>
                  <a:srgbClr val="FFFDF7"/>
                </a:solidFill>
              </a:defRPr>
            </a:pPr>
            <a:r>
              <a:rPr sz="1350" b="0">
                <a:solidFill>
                  <a:srgbClr val="FFFDF7"/>
                </a:solidFill>
              </a:rPr>
              <a:t>var a, b, result: integer;</a:t>
            </a:r>
          </a:p>
          <a:p xmlns:a="http://schemas.openxmlformats.org/drawingml/2006/main">
            <a:pPr algn="l">
              <a:defRPr sz="1350" b="0">
                <a:solidFill>
                  <a:srgbClr val="FFFDF7"/>
                </a:solidFill>
              </a:defRPr>
            </a:pPr>
            <a:r>
              <a:rPr sz="1350" b="0">
                <a:solidFill>
                  <a:srgbClr val="FFFDF7"/>
                </a:solidFill>
              </a:rPr>
              <a:t>begin</a:t>
            </a:r>
          </a:p>
          <a:p xmlns:a="http://schemas.openxmlformats.org/drawingml/2006/main">
            <a:pPr algn="l">
              <a:defRPr sz="1350" b="0">
                <a:solidFill>
                  <a:srgbClr val="FFFDF7"/>
                </a:solidFill>
              </a:defRPr>
            </a:pPr>
            <a:r>
              <a:rPr sz="1350" b="0">
                <a:solidFill>
                  <a:srgbClr val="FFFDF7"/>
                </a:solidFill>
              </a:rPr>
              <a:t>  a := 10;</a:t>
            </a:r>
          </a:p>
          <a:p xmlns:a="http://schemas.openxmlformats.org/drawingml/2006/main">
            <a:pPr algn="l">
              <a:defRPr sz="1350" b="0">
                <a:solidFill>
                  <a:srgbClr val="FFFDF7"/>
                </a:solidFill>
              </a:defRPr>
            </a:pPr>
            <a:r>
              <a:rPr sz="1350" b="0">
                <a:solidFill>
                  <a:srgbClr val="FFFDF7"/>
                </a:solidFill>
              </a:rPr>
              <a:t>  b := 20;</a:t>
            </a:r>
          </a:p>
          <a:p xmlns:a="http://schemas.openxmlformats.org/drawingml/2006/main">
            <a:pPr algn="l">
              <a:defRPr sz="1350" b="0">
                <a:solidFill>
                  <a:srgbClr val="FFFDF7"/>
                </a:solidFill>
              </a:defRPr>
            </a:pPr>
            <a:r>
              <a:rPr sz="1350" b="0">
                <a:solidFill>
                  <a:srgbClr val="FFFDF7"/>
                </a:solidFill>
              </a:rPr>
              <a:t>  result := a + b;</a:t>
            </a:r>
          </a:p>
          <a:p xmlns:a="http://schemas.openxmlformats.org/drawingml/2006/main">
            <a:pPr algn="l">
              <a:defRPr sz="1350" b="0">
                <a:solidFill>
                  <a:srgbClr val="FFFDF7"/>
                </a:solidFill>
              </a:defRPr>
            </a:pPr>
            <a:r>
              <a:rPr sz="1350" b="0">
                <a:solidFill>
                  <a:srgbClr val="FFFDF7"/>
                </a:solidFill>
              </a:rPr>
              <a:t>  writeln(result);</a:t>
            </a:r>
          </a:p>
          <a:p xmlns:a="http://schemas.openxmlformats.org/drawingml/2006/main">
            <a:pPr algn="l">
              <a:defRPr sz="1350" b="0">
                <a:solidFill>
                  <a:srgbClr val="FFFDF7"/>
                </a:solidFill>
              </a:defRPr>
            </a:pPr>
            <a:r>
              <a:rPr sz="1350" b="0">
                <a:solidFill>
                  <a:srgbClr val="FFFDF7"/>
                </a:solidFill>
              </a:rPr>
              <a:t>end.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A9D47A3-2104-4C1F-B475-4A41B0EF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7205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5B45"/>
                </a:solidFill>
              </a:defRPr>
            </a:pPr>
            <a:r>
              <a:rPr sz="1500" b="1">
                <a:solidFill>
                  <a:srgbClr val="2E5B45"/>
                </a:solidFill>
              </a:rPr>
              <a:t>Expected output: 30</a:t>
            </a:r>
          </a:p>
        </p:txBody>
      </p:sp>
    </p:spTree>
    <p:extLst>
      <p:ext uri="{BB962C8B-B14F-4D97-AF65-F5344CB8AC3E}">
        <p14:creationId xmlns:p14="http://schemas.microsoft.com/office/powerpoint/2010/main" val="20216141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B389257F-6684-4239-AB02-E794A484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5B45"/>
                </a:solidFill>
              </a:defRPr>
            </a:pPr>
            <a:r>
              <a:rPr sz="900" b="1">
                <a:solidFill>
                  <a:srgbClr val="2E5B45"/>
                </a:solidFill>
              </a:rPr>
              <a:t>MINIPASCAL · CSE 303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58C5F49-9A02-4C82-AA62-A916F311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22"/>
                </a:solidFill>
              </a:defRPr>
            </a:pPr>
            <a:r>
              <a:rPr sz="2550" b="1">
                <a:solidFill>
                  <a:srgbClr val="202822"/>
                </a:solidFill>
              </a:rPr>
              <a:t>Primary Use Cases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CAEC249-37A2-4B8D-8D7F-AEBF71EB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2"/>
          </a:solidFill>
          <a:ln xmlns:a="http://schemas.openxmlformats.org/drawingml/2006/main" w="14288">
            <a:solidFill>
              <a:srgbClr val="202822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6905F63-FA76-4D8D-9721-0D3FAA88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169"/>
                </a:solidFill>
              </a:defRPr>
            </a:pPr>
            <a:r>
              <a:rPr sz="750" b="0">
                <a:solidFill>
                  <a:srgbClr val="697169"/>
                </a:solidFill>
              </a:rPr>
              <a:t>MIST  |  CSE 303  |  Compiler Design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14DCDDF-5FEE-462A-B620-6D9B5AFF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169"/>
                </a:solidFill>
              </a:defRPr>
            </a:pPr>
            <a:r>
              <a:rPr sz="750" b="0">
                <a:solidFill>
                  <a:srgbClr val="697169"/>
                </a:solidFill>
              </a:rPr>
              <a:t>6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D269F02-2AB8-4900-8579-5085A4B4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65F45"/>
                </a:solidFill>
              </a:defRPr>
            </a:pPr>
            <a:r>
              <a:rPr sz="1725" b="1">
                <a:solidFill>
                  <a:srgbClr val="B65F45"/>
                </a:solidFill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C8140B3-71C8-47FA-AACD-8644BBA2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383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5B45"/>
                </a:solidFill>
              </a:defRPr>
            </a:pPr>
            <a:r>
              <a:rPr sz="1650" b="1">
                <a:solidFill>
                  <a:srgbClr val="2E5B45"/>
                </a:solidFill>
              </a:rPr>
              <a:t>Compile valid source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5912694-89BE-493B-9615-972702AA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3360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822"/>
                </a:solidFill>
              </a:defRPr>
            </a:pPr>
            <a:r>
              <a:rPr sz="1275" b="0">
                <a:solidFill>
                  <a:srgbClr val="202822"/>
                </a:solidFill>
              </a:rPr>
              <a:t>Student supplies MiniPascal source; the compiler validates it and produces runnable output.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2914BA1E-A507-4ABA-9DA5-ED1D2D39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79E"/>
          </a:solidFill>
          <a:ln xmlns:a="http://schemas.openxmlformats.org/drawingml/2006/main" w="14288">
            <a:solidFill>
              <a:srgbClr val="A8A79E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AD3643A-3695-4460-8F24-5ED4E0C5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3830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65F45"/>
                </a:solidFill>
              </a:defRPr>
            </a:pPr>
            <a:r>
              <a:rPr sz="1725" b="1">
                <a:solidFill>
                  <a:srgbClr val="B65F45"/>
                </a:solidFill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2B5ACE3-7BE1-4689-8B58-140959BD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383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5B45"/>
                </a:solidFill>
              </a:defRPr>
            </a:pPr>
            <a:r>
              <a:rPr sz="1650" b="1">
                <a:solidFill>
                  <a:srgbClr val="2E5B45"/>
                </a:solidFill>
              </a:rPr>
              <a:t>Inspect compiler stages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50F0893-65CF-4EA8-8D9C-2D79AF4D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3360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822"/>
                </a:solidFill>
              </a:defRPr>
            </a:pPr>
            <a:r>
              <a:rPr sz="1275" b="0">
                <a:solidFill>
                  <a:srgbClr val="202822"/>
                </a:solidFill>
              </a:rPr>
              <a:t>Presenter shows tokens, AST, symbol table and IR during the defense.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59499AD1-6035-4E39-AB91-44C6F2FB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79E"/>
          </a:solidFill>
          <a:ln xmlns:a="http://schemas.openxmlformats.org/drawingml/2006/main" w="14288">
            <a:solidFill>
              <a:srgbClr val="A8A79E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034FEB5-3BC8-4362-8671-E1FEBF71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909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65F45"/>
                </a:solidFill>
              </a:defRPr>
            </a:pPr>
            <a:r>
              <a:rPr sz="1725" b="1">
                <a:solidFill>
                  <a:srgbClr val="B65F45"/>
                </a:solidFill>
              </a:rP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D4EC37A-83F4-48C5-B66B-1C730C36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5B45"/>
                </a:solidFill>
              </a:defRPr>
            </a:pPr>
            <a:r>
              <a:rPr sz="1650" b="1">
                <a:solidFill>
                  <a:srgbClr val="2E5B45"/>
                </a:solidFill>
              </a:rPr>
              <a:t>Diagnose invalid source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C639857-0C1D-4618-8C1E-E19450AB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822"/>
                </a:solidFill>
              </a:defRPr>
            </a:pPr>
            <a:r>
              <a:rPr sz="1275" b="0">
                <a:solidFill>
                  <a:srgbClr val="202822"/>
                </a:solidFill>
              </a:rPr>
              <a:t>Compiler stops at the correct stage and reports the error with line and column context.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90B768F8-3A52-461B-9653-18531A94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95900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79E"/>
          </a:solidFill>
          <a:ln xmlns:a="http://schemas.openxmlformats.org/drawingml/2006/main" w="14288">
            <a:solidFill>
              <a:srgbClr val="A8A79E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4BA4A83-ACD4-49AC-AEB1-0786BCBD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909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65F45"/>
                </a:solidFill>
              </a:defRPr>
            </a:pPr>
            <a:r>
              <a:rPr sz="1725" b="1">
                <a:solidFill>
                  <a:srgbClr val="B65F45"/>
                </a:solidFill>
              </a:rPr>
              <a:t>04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6477296-F017-4D0D-B02E-7514DE97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909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5B45"/>
                </a:solidFill>
              </a:defRPr>
            </a:pPr>
            <a:r>
              <a:rPr sz="1650" b="1">
                <a:solidFill>
                  <a:srgbClr val="2E5B45"/>
                </a:solidFill>
              </a:rPr>
              <a:t>Verify expected output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50013D4-6EFD-4D0C-A08D-E9BB5C67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8625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822"/>
                </a:solidFill>
              </a:defRPr>
            </a:pPr>
            <a:r>
              <a:rPr sz="1275" b="0">
                <a:solidFill>
                  <a:srgbClr val="202822"/>
                </a:solidFill>
              </a:rPr>
              <a:t>Test cases compare generated behavior with the expected result.</a:t>
            </a:r>
          </a:p>
        </p:txBody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9B788BE6-624C-41BD-9F88-09E1A423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95900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79E"/>
          </a:solidFill>
          <a:ln xmlns:a="http://schemas.openxmlformats.org/drawingml/2006/main" w="14288">
            <a:solidFill>
              <a:srgbClr val="A8A79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649761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">
            <a:extLst xmlns:a="http://schemas.openxmlformats.org/drawingml/2006/main">
              <a:ext uri="{FF2B5EF4-FFF2-40B4-BE49-F238E27FC236}">
                <a16:creationId xmlns:a16="http://schemas.microsoft.com/office/drawing/2014/main" id="{4F54CA1E-9D58-40D4-B734-E6B76859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5B45"/>
                </a:solidFill>
              </a:defRPr>
            </a:pPr>
            <a:r>
              <a:rPr sz="900" b="1">
                <a:solidFill>
                  <a:srgbClr val="2E5B45"/>
                </a:solidFill>
              </a:rPr>
              <a:t>MINIPASCAL · CSE 303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411CC24-1E4A-415A-B520-8096605C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22"/>
                </a:solidFill>
              </a:defRPr>
            </a:pPr>
            <a:r>
              <a:rPr sz="2550" b="1">
                <a:solidFill>
                  <a:srgbClr val="202822"/>
                </a:solidFill>
              </a:rPr>
              <a:t>MiniPascal Compiler Flowchart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76978C0-5097-4729-9FCE-6C3626C8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2"/>
          </a:solidFill>
          <a:ln xmlns:a="http://schemas.openxmlformats.org/drawingml/2006/main" w="14288">
            <a:solidFill>
              <a:srgbClr val="202822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2EF2B07-3521-4150-95D2-12932A13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169"/>
                </a:solidFill>
              </a:defRPr>
            </a:pPr>
            <a:r>
              <a:rPr sz="750" b="0">
                <a:solidFill>
                  <a:srgbClr val="697169"/>
                </a:solidFill>
              </a:rPr>
              <a:t>MIST  |  CSE 303  |  Compiler Design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50C9F03-466C-46BD-8AAB-A4258D6F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169"/>
                </a:solidFill>
              </a:defRPr>
            </a:pPr>
            <a:r>
              <a:rPr sz="750" b="0">
                <a:solidFill>
                  <a:srgbClr val="697169"/>
                </a:solidFill>
              </a:rPr>
              <a:t>7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D326C07-0332-4C64-B639-91053076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F45"/>
                </a:solidFill>
              </a:defRPr>
            </a:pPr>
            <a:r>
              <a:rPr sz="900" b="1">
                <a:solidFill>
                  <a:srgbClr val="B65F45"/>
                </a:solidFill>
              </a:rPr>
              <a:t>FLOW 01 / 10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CCAF112-E193-45F2-9982-AA40CE1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3430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169"/>
                </a:solidFill>
              </a:defRPr>
            </a:pPr>
            <a:r>
              <a:rPr sz="1275" b="0">
                <a:solidFill>
                  <a:srgbClr val="697169"/>
                </a:solidFill>
              </a:rPr>
              <a:t>The complete path from source code to runnable output</a:t>
            </a:r>
          </a:p>
        </p:txBody>
      </p:sp>
      <p:sp>
        <p:nvSpPr>
          <p:cNvPr id="8" name="node-START">
            <a:extLst xmlns:a="http://schemas.openxmlformats.org/drawingml/2006/main">
              <a:ext uri="{FF2B5EF4-FFF2-40B4-BE49-F238E27FC236}">
                <a16:creationId xmlns:a16="http://schemas.microsoft.com/office/drawing/2014/main" id="{4ABDD8DC-64FC-4BF3-A8E8-7FC3F12F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571750"/>
            <a:ext cx="904875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B45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7"/>
                </a:solidFill>
              </a:defRPr>
            </a:pPr>
            <a:r>
              <a:rPr sz="1125" b="1">
                <a:solidFill>
                  <a:srgbClr val="FFFDF7"/>
                </a:solidFill>
              </a:rPr>
              <a:t>START</a:t>
            </a:r>
          </a:p>
        </p:txBody>
      </p:sp>
      <p:sp>
        <p:nvSpPr>
          <p:cNvPr id="9" name="node-Read Source">
            <a:extLst xmlns:a="http://schemas.openxmlformats.org/drawingml/2006/main">
              <a:ext uri="{FF2B5EF4-FFF2-40B4-BE49-F238E27FC236}">
                <a16:creationId xmlns:a16="http://schemas.microsoft.com/office/drawing/2014/main" id="{2143C7D2-1BDE-405D-A99A-6F9F0EDF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43175"/>
            <a:ext cx="1381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Read Source</a:t>
            </a:r>
          </a:p>
        </p:txBody>
      </p:sp>
      <p:sp>
        <p:nvSpPr>
          <p:cNvPr id="10" name="node-Lexical&#10;Analysis">
            <a:extLst xmlns:a="http://schemas.openxmlformats.org/drawingml/2006/main">
              <a:ext uri="{FF2B5EF4-FFF2-40B4-BE49-F238E27FC236}">
                <a16:creationId xmlns:a16="http://schemas.microsoft.com/office/drawing/2014/main" id="{7E3D71A5-C146-4942-AD56-CCD7222B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95550"/>
            <a:ext cx="11906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Lexical</a:t>
            </a:r>
          </a:p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Analysis</a:t>
            </a:r>
          </a:p>
        </p:txBody>
      </p:sp>
      <p:sp>
        <p:nvSpPr>
          <p:cNvPr id="11" name="node-Syntax + AST">
            <a:extLst xmlns:a="http://schemas.openxmlformats.org/drawingml/2006/main">
              <a:ext uri="{FF2B5EF4-FFF2-40B4-BE49-F238E27FC236}">
                <a16:creationId xmlns:a16="http://schemas.microsoft.com/office/drawing/2014/main" id="{39377323-DA64-4F13-B142-35362E1B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43175"/>
            <a:ext cx="1381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Syntax + AST</a:t>
            </a:r>
          </a:p>
        </p:txBody>
      </p:sp>
      <p:sp>
        <p:nvSpPr>
          <p:cNvPr id="12" name="node-Semantic&#10;Analysis">
            <a:extLst xmlns:a="http://schemas.openxmlformats.org/drawingml/2006/main">
              <a:ext uri="{FF2B5EF4-FFF2-40B4-BE49-F238E27FC236}">
                <a16:creationId xmlns:a16="http://schemas.microsoft.com/office/drawing/2014/main" id="{3F41BB4A-9EEC-41A0-82C6-9FDBF164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95550"/>
            <a:ext cx="1238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Semantic</a:t>
            </a:r>
          </a:p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Analysis</a:t>
            </a:r>
          </a:p>
        </p:txBody>
      </p:sp>
      <p:sp>
        <p:nvSpPr>
          <p:cNvPr id="13" name="node-Error?">
            <a:extLst xmlns:a="http://schemas.openxmlformats.org/drawingml/2006/main">
              <a:ext uri="{FF2B5EF4-FFF2-40B4-BE49-F238E27FC236}">
                <a16:creationId xmlns:a16="http://schemas.microsoft.com/office/drawing/2014/main" id="{E28BFFDC-B7EF-4CB9-9AB5-D052E1CF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00300"/>
            <a:ext cx="1000125" cy="838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B65F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Error?</a:t>
            </a:r>
          </a:p>
        </p:txBody>
      </p:sp>
      <p:sp>
        <p:nvSpPr>
          <p:cNvPr id="14" name="node-Generate IR">
            <a:extLst xmlns:a="http://schemas.openxmlformats.org/drawingml/2006/main">
              <a:ext uri="{FF2B5EF4-FFF2-40B4-BE49-F238E27FC236}">
                <a16:creationId xmlns:a16="http://schemas.microsoft.com/office/drawing/2014/main" id="{6BB343AE-BBA3-4D80-9D30-455BD46C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43175"/>
            <a:ext cx="1095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Generate IR</a:t>
            </a:r>
          </a:p>
        </p:txBody>
      </p:sp>
      <p:sp>
        <p:nvSpPr>
          <p:cNvPr id="15" name="node-Code Generation&#10;&amp; Run Output">
            <a:extLst xmlns:a="http://schemas.openxmlformats.org/drawingml/2006/main">
              <a:ext uri="{FF2B5EF4-FFF2-40B4-BE49-F238E27FC236}">
                <a16:creationId xmlns:a16="http://schemas.microsoft.com/office/drawing/2014/main" id="{6A5626BB-2424-472B-A52C-35F0B7BD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57450"/>
            <a:ext cx="1381125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B45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7"/>
                </a:solidFill>
              </a:defRPr>
            </a:pPr>
            <a:r>
              <a:rPr sz="1125" b="1">
                <a:solidFill>
                  <a:srgbClr val="FFFDF7"/>
                </a:solidFill>
              </a:rPr>
              <a:t>Code Generation</a:t>
            </a:r>
          </a:p>
          <a:p xmlns:a="http://schemas.openxmlformats.org/drawingml/2006/main">
            <a:pPr algn="ctr">
              <a:defRPr sz="1125" b="1">
                <a:solidFill>
                  <a:srgbClr val="FFFDF7"/>
                </a:solidFill>
              </a:defRPr>
            </a:pPr>
            <a:r>
              <a:rPr sz="1125" b="1">
                <a:solidFill>
                  <a:srgbClr val="FFFDF7"/>
                </a:solidFill>
              </a:rPr>
              <a:t>&amp; Run Output</a:t>
            </a:r>
          </a:p>
        </p:txBody>
      </p:sp>
      <p:cxnSp>
        <p:nvCxnSpPr>
          <p:cNvPr id="44" name=""/>
          <p:cNvCxnSpPr>
            <a:stCxn xmlns:a="http://schemas.openxmlformats.org/drawingml/2006/main" id="8" idx="6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333500" y="28194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  <p:cxnSp>
        <p:nvCxnSpPr>
          <p:cNvPr id="4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952750" y="28194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  <p:cxnSp>
        <p:nvCxnSpPr>
          <p:cNvPr id="46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381500" y="28194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  <p:cxnSp>
        <p:nvCxnSpPr>
          <p:cNvPr id="47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000750" y="28194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  <p:cxnSp>
        <p:nvCxnSpPr>
          <p:cNvPr id="48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477125" y="28194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  <p:cxnSp>
        <p:nvCxnSpPr>
          <p:cNvPr id="49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763000" y="28194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  <p:cxnSp>
        <p:nvCxnSpPr>
          <p:cNvPr id="50" name=""/>
          <p:cNvCxnSpPr>
            <a:stCxn xmlns:a="http://schemas.openxmlformats.org/drawingml/2006/main" id="14" idx="3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10144125" y="28194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  <p:sp>
        <p:nvSpPr>
          <p:cNvPr id="23" name="node-Report Error and Stop">
            <a:extLst xmlns:a="http://schemas.openxmlformats.org/drawingml/2006/main">
              <a:ext uri="{FF2B5EF4-FFF2-40B4-BE49-F238E27FC236}">
                <a16:creationId xmlns:a16="http://schemas.microsoft.com/office/drawing/2014/main" id="{BD8B103E-2677-439D-B202-F5DCE566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857625"/>
            <a:ext cx="1952625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5"/>
          </a:solidFill>
          <a:ln xmlns:a="http://schemas.openxmlformats.org/drawingml/2006/main" w="19050">
            <a:solidFill>
              <a:srgbClr val="B65F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7"/>
                </a:solidFill>
              </a:defRPr>
            </a:pPr>
            <a:r>
              <a:rPr sz="1125" b="1">
                <a:solidFill>
                  <a:srgbClr val="FFFDF7"/>
                </a:solidFill>
              </a:rPr>
              <a:t>Report Error and Stop</a:t>
            </a:r>
          </a:p>
        </p:txBody>
      </p:sp>
      <p:cxnSp>
        <p:nvCxnSpPr>
          <p:cNvPr id="52" name=""/>
          <p:cNvCxnSpPr>
            <a:stCxn xmlns:a="http://schemas.openxmlformats.org/drawingml/2006/main" id="13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8262938" y="323850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65F45"/>
            </a:solidFill>
            <a:prstDash val="solid"/>
            <a:tailEnd type="arrow" w="med" len="med"/>
          </a:ln>
        </p:spPr>
      </p:cxn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42EBFC9-C3D5-4B8B-95B8-D734B767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766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65F45"/>
                </a:solidFill>
              </a:defRPr>
            </a:pPr>
            <a:r>
              <a:rPr sz="900" b="1">
                <a:solidFill>
                  <a:srgbClr val="B65F45"/>
                </a:solidFill>
              </a:rPr>
              <a:t>YES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4B791413-3B18-47D8-835F-F26ED9A7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717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E5B45"/>
                </a:solidFill>
              </a:defRPr>
            </a:pPr>
            <a:r>
              <a:rPr sz="900" b="1">
                <a:solidFill>
                  <a:srgbClr val="2E5B45"/>
                </a:solidFill>
              </a:rPr>
              <a:t>NO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DBE90F3D-4223-4604-B523-0B09DF85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822"/>
                </a:solidFill>
              </a:defRPr>
            </a:pPr>
            <a:r>
              <a:rPr sz="1350" b="1">
                <a:solidFill>
                  <a:srgbClr val="202822"/>
                </a:solidFill>
              </a:rPr>
              <a:t>This is the main presentation flow: source code → checks → IR → runnable output.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34B98F40-2CDD-4D0F-BD70-D70E2F1B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65F45"/>
                </a:solidFill>
              </a:defRPr>
            </a:pPr>
            <a:r>
              <a:rPr sz="1275" b="0">
                <a:solidFill>
                  <a:srgbClr val="B65F45"/>
                </a:solidFill>
              </a:rPr>
              <a:t>Any lexical, syntax or semantic error stops compilation before backend execution.</a:t>
            </a:r>
          </a:p>
        </p:txBody>
      </p:sp>
    </p:spTree>
    <p:extLst>
      <p:ext uri="{BB962C8B-B14F-4D97-AF65-F5344CB8AC3E}">
        <p14:creationId xmlns:p14="http://schemas.microsoft.com/office/powerpoint/2010/main" val="14858765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B46C9705-64FD-43B8-BC96-0BFFA79F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5B45"/>
                </a:solidFill>
              </a:defRPr>
            </a:pPr>
            <a:r>
              <a:rPr sz="900" b="1">
                <a:solidFill>
                  <a:srgbClr val="2E5B45"/>
                </a:solidFill>
              </a:rPr>
              <a:t>MINIPASCAL · CSE 303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FFD1AB1-F02C-4C62-9302-BE1FF246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22"/>
                </a:solidFill>
              </a:defRPr>
            </a:pPr>
            <a:r>
              <a:rPr sz="2550" b="1">
                <a:solidFill>
                  <a:srgbClr val="202822"/>
                </a:solidFill>
              </a:rPr>
              <a:t>Lexical Analysis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AAFAD38-887E-4069-9078-687BB1B8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2"/>
          </a:solidFill>
          <a:ln xmlns:a="http://schemas.openxmlformats.org/drawingml/2006/main" w="14288">
            <a:solidFill>
              <a:srgbClr val="202822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0B8ABFE-EBBA-4BFC-B321-9CAB80B9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169"/>
                </a:solidFill>
              </a:defRPr>
            </a:pPr>
            <a:r>
              <a:rPr sz="750" b="0">
                <a:solidFill>
                  <a:srgbClr val="697169"/>
                </a:solidFill>
              </a:rPr>
              <a:t>MIST  |  CSE 303  |  Compiler Design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4440415-055B-4A26-BE9D-8A82AF1A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169"/>
                </a:solidFill>
              </a:defRPr>
            </a:pPr>
            <a:r>
              <a:rPr sz="750" b="0">
                <a:solidFill>
                  <a:srgbClr val="697169"/>
                </a:solidFill>
              </a:rPr>
              <a:t>8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5161CA1-1EDC-4AF4-A477-13443094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F45"/>
                </a:solidFill>
              </a:defRPr>
            </a:pPr>
            <a:r>
              <a:rPr sz="900" b="1">
                <a:solidFill>
                  <a:srgbClr val="B65F45"/>
                </a:solidFill>
              </a:rPr>
              <a:t>FLOW 02 / 10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D3A6525-0984-483D-AD02-265CE737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3430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169"/>
                </a:solidFill>
              </a:defRPr>
            </a:pPr>
            <a:r>
              <a:rPr sz="1275" b="0">
                <a:solidFill>
                  <a:srgbClr val="697169"/>
                </a:solidFill>
              </a:rPr>
              <a:t>The lexer converts source characters into tokens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C7A22AFF-AFEB-41E4-92D9-00D298FA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952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2"/>
          </a:solidFill>
          <a:ln xmlns:a="http://schemas.openxmlformats.org/drawingml/2006/main" w="14288">
            <a:solidFill>
              <a:srgbClr val="202822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3A5B026-E6B1-4660-9205-16658D45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A33A"/>
                </a:solidFill>
              </a:defRPr>
            </a:pPr>
            <a:r>
              <a:rPr sz="900" b="1">
                <a:solidFill>
                  <a:srgbClr val="D8A33A"/>
                </a:solidFill>
              </a:rPr>
              <a:t>EXAMPLE SOURCE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EFAFDB6-1AD0-475F-8218-72078CF2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DF7"/>
                </a:solidFill>
              </a:defRPr>
            </a:pPr>
            <a:r>
              <a:rPr sz="1350" b="0">
                <a:solidFill>
                  <a:srgbClr val="FFFDF7"/>
                </a:solidFill>
              </a:rPr>
              <a:t>age := 20;</a:t>
            </a:r>
          </a:p>
          <a:p xmlns:a="http://schemas.openxmlformats.org/drawingml/2006/main">
            <a:pPr algn="l">
              <a:defRPr sz="1350" b="0">
                <a:solidFill>
                  <a:srgbClr val="FFFDF7"/>
                </a:solidFill>
              </a:defRPr>
            </a:pPr>
            <a:r>
              <a:rPr sz="1350" b="0">
                <a:solidFill>
                  <a:srgbClr val="FFFDF7"/>
                </a:solidFill>
              </a:rPr>
              <a:t>if age &gt;= 18 then</a:t>
            </a:r>
          </a:p>
          <a:p xmlns:a="http://schemas.openxmlformats.org/drawingml/2006/main">
            <a:pPr algn="l">
              <a:defRPr sz="1350" b="0">
                <a:solidFill>
                  <a:srgbClr val="FFFDF7"/>
                </a:solidFill>
              </a:defRPr>
            </a:pPr>
            <a:r>
              <a:rPr sz="1350" b="0">
                <a:solidFill>
                  <a:srgbClr val="FFFDF7"/>
                </a:solidFill>
              </a:rPr>
              <a:t>    writeln(1);</a:t>
            </a:r>
          </a:p>
        </p:txBody>
      </p:sp>
      <p:sp>
        <p:nvSpPr>
          <p:cNvPr id="11" name="node-Read characters">
            <a:extLst xmlns:a="http://schemas.openxmlformats.org/drawingml/2006/main">
              <a:ext uri="{FF2B5EF4-FFF2-40B4-BE49-F238E27FC236}">
                <a16:creationId xmlns:a16="http://schemas.microsoft.com/office/drawing/2014/main" id="{73F0217A-A28C-4C1E-ADD6-0B09A5EC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Read characters</a:t>
            </a:r>
          </a:p>
        </p:txBody>
      </p:sp>
      <p:sp>
        <p:nvSpPr>
          <p:cNvPr id="12" name="node-Match lexemes">
            <a:extLst xmlns:a="http://schemas.openxmlformats.org/drawingml/2006/main">
              <a:ext uri="{FF2B5EF4-FFF2-40B4-BE49-F238E27FC236}">
                <a16:creationId xmlns:a16="http://schemas.microsoft.com/office/drawing/2014/main" id="{D69B6836-2095-4E2E-9F94-AEA69A18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Match lexemes</a:t>
            </a:r>
          </a:p>
        </p:txBody>
      </p:sp>
      <p:sp>
        <p:nvSpPr>
          <p:cNvPr id="13" name="node-Classify tokens">
            <a:extLst xmlns:a="http://schemas.openxmlformats.org/drawingml/2006/main">
              <a:ext uri="{FF2B5EF4-FFF2-40B4-BE49-F238E27FC236}">
                <a16:creationId xmlns:a16="http://schemas.microsoft.com/office/drawing/2014/main" id="{50B52338-C712-4865-ADE1-2C614A39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052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Classify tokens</a:t>
            </a:r>
          </a:p>
        </p:txBody>
      </p:sp>
      <p:cxnSp>
        <p:nvCxnSpPr>
          <p:cNvPr id="34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4953000" y="2552700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  <p:cxnSp>
        <p:nvCxnSpPr>
          <p:cNvPr id="35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4953000" y="3505200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6D1A5444-CBD0-4215-8743-D75A5A05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572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4288">
            <a:solidFill>
              <a:srgbClr val="A8A79E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A11C4E3-7AD3-4594-8F73-34FB1306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95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F45"/>
                </a:solidFill>
              </a:defRPr>
            </a:pPr>
            <a:r>
              <a:rPr sz="900" b="1">
                <a:solidFill>
                  <a:srgbClr val="B65F45"/>
                </a:solidFill>
              </a:rPr>
              <a:t>TOKEN CLASSES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D9C0022-D553-495C-8C92-0FA9C4AD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76500"/>
            <a:ext cx="1809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822"/>
                </a:solidFill>
              </a:defRPr>
            </a:pPr>
            <a:r>
              <a:rPr sz="1275" b="0">
                <a:solidFill>
                  <a:srgbClr val="202822"/>
                </a:solidFill>
              </a:rPr>
              <a:t>•  Keyword</a:t>
            </a:r>
          </a:p>
          <a:p xmlns:a="http://schemas.openxmlformats.org/drawingml/2006/main">
            <a:pPr algn="l">
              <a:defRPr sz="1275" b="0">
                <a:solidFill>
                  <a:srgbClr val="202822"/>
                </a:solidFill>
              </a:defRPr>
            </a:pPr>
            <a:r>
              <a:rPr sz="1275" b="0">
                <a:solidFill>
                  <a:srgbClr val="202822"/>
                </a:solidFill>
              </a:rPr>
              <a:t>•  Identifier</a:t>
            </a:r>
          </a:p>
          <a:p xmlns:a="http://schemas.openxmlformats.org/drawingml/2006/main">
            <a:pPr algn="l">
              <a:defRPr sz="1275" b="0">
                <a:solidFill>
                  <a:srgbClr val="202822"/>
                </a:solidFill>
              </a:defRPr>
            </a:pPr>
            <a:r>
              <a:rPr sz="1275" b="0">
                <a:solidFill>
                  <a:srgbClr val="202822"/>
                </a:solidFill>
              </a:rPr>
              <a:t>•  Integer / Real</a:t>
            </a:r>
          </a:p>
          <a:p xmlns:a="http://schemas.openxmlformats.org/drawingml/2006/main">
            <a:pPr algn="l">
              <a:defRPr sz="1275" b="0">
                <a:solidFill>
                  <a:srgbClr val="202822"/>
                </a:solidFill>
              </a:defRPr>
            </a:pPr>
            <a:r>
              <a:rPr sz="1275" b="0">
                <a:solidFill>
                  <a:srgbClr val="202822"/>
                </a:solidFill>
              </a:rPr>
              <a:t>•  Operator / Delimiter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C65532D-018C-466E-B6F3-CEA8B6C0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F45"/>
                </a:solidFill>
              </a:defRPr>
            </a:pPr>
            <a:r>
              <a:rPr sz="900" b="1">
                <a:solidFill>
                  <a:srgbClr val="B65F45"/>
                </a:solidFill>
              </a:rPr>
              <a:t>GENERATED TOKENS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B6114EA-DB78-4443-BE7A-1944BEC7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"/>
            <a:ext cx="1905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822"/>
                </a:solidFill>
              </a:defRPr>
            </a:pPr>
            <a:r>
              <a:rPr sz="1125" b="0">
                <a:solidFill>
                  <a:srgbClr val="202822"/>
                </a:solidFill>
              </a:rPr>
              <a:t>IDENT(age)</a:t>
            </a:r>
          </a:p>
          <a:p xmlns:a="http://schemas.openxmlformats.org/drawingml/2006/main">
            <a:pPr algn="l">
              <a:defRPr sz="1125" b="0">
                <a:solidFill>
                  <a:srgbClr val="202822"/>
                </a:solidFill>
              </a:defRPr>
            </a:pPr>
            <a:r>
              <a:rPr sz="1125" b="0">
                <a:solidFill>
                  <a:srgbClr val="202822"/>
                </a:solidFill>
              </a:rPr>
              <a:t>ASSIGN(:=)</a:t>
            </a:r>
          </a:p>
          <a:p xmlns:a="http://schemas.openxmlformats.org/drawingml/2006/main">
            <a:pPr algn="l">
              <a:defRPr sz="1125" b="0">
                <a:solidFill>
                  <a:srgbClr val="202822"/>
                </a:solidFill>
              </a:defRPr>
            </a:pPr>
            <a:r>
              <a:rPr sz="1125" b="0">
                <a:solidFill>
                  <a:srgbClr val="202822"/>
                </a:solidFill>
              </a:rPr>
              <a:t>INT(20)</a:t>
            </a:r>
          </a:p>
          <a:p xmlns:a="http://schemas.openxmlformats.org/drawingml/2006/main">
            <a:pPr algn="l">
              <a:defRPr sz="1125" b="0">
                <a:solidFill>
                  <a:srgbClr val="202822"/>
                </a:solidFill>
              </a:defRPr>
            </a:pPr>
            <a:r>
              <a:rPr sz="1125" b="0">
                <a:solidFill>
                  <a:srgbClr val="202822"/>
                </a:solidFill>
              </a:rPr>
              <a:t>SEMI(;)</a:t>
            </a:r>
          </a:p>
          <a:p xmlns:a="http://schemas.openxmlformats.org/drawingml/2006/main">
            <a:pPr algn="l">
              <a:defRPr sz="1125" b="0">
                <a:solidFill>
                  <a:srgbClr val="202822"/>
                </a:solidFill>
              </a:defRPr>
            </a:pPr>
            <a:r>
              <a:rPr sz="1125" b="0">
                <a:solidFill>
                  <a:srgbClr val="202822"/>
                </a:solidFill>
              </a:rPr>
              <a:t>IF</a:t>
            </a:r>
          </a:p>
          <a:p xmlns:a="http://schemas.openxmlformats.org/drawingml/2006/main">
            <a:pPr algn="l">
              <a:defRPr sz="1125" b="0">
                <a:solidFill>
                  <a:srgbClr val="202822"/>
                </a:solidFill>
              </a:defRPr>
            </a:pPr>
            <a:r>
              <a:rPr sz="1125" b="0">
                <a:solidFill>
                  <a:srgbClr val="202822"/>
                </a:solidFill>
              </a:rPr>
              <a:t>IDENT(age)</a:t>
            </a:r>
          </a:p>
          <a:p xmlns:a="http://schemas.openxmlformats.org/drawingml/2006/main">
            <a:pPr algn="l">
              <a:defRPr sz="1125" b="0">
                <a:solidFill>
                  <a:srgbClr val="202822"/>
                </a:solidFill>
              </a:defRPr>
            </a:pPr>
            <a:r>
              <a:rPr sz="1125" b="0">
                <a:solidFill>
                  <a:srgbClr val="202822"/>
                </a:solidFill>
              </a:rPr>
              <a:t>GE(&gt;=)</a:t>
            </a:r>
          </a:p>
          <a:p xmlns:a="http://schemas.openxmlformats.org/drawingml/2006/main">
            <a:pPr algn="l">
              <a:defRPr sz="1125" b="0">
                <a:solidFill>
                  <a:srgbClr val="202822"/>
                </a:solidFill>
              </a:defRPr>
            </a:pPr>
            <a:r>
              <a:rPr sz="1125" b="0">
                <a:solidFill>
                  <a:srgbClr val="202822"/>
                </a:solidFill>
              </a:rPr>
              <a:t>INT(18)</a:t>
            </a:r>
          </a:p>
        </p:txBody>
      </p:sp>
    </p:spTree>
    <p:extLst>
      <p:ext uri="{BB962C8B-B14F-4D97-AF65-F5344CB8AC3E}">
        <p14:creationId xmlns:p14="http://schemas.microsoft.com/office/powerpoint/2010/main" val="1801345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B232B903-F0C4-4946-A1A1-F0AA6717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5B45"/>
                </a:solidFill>
              </a:defRPr>
            </a:pPr>
            <a:r>
              <a:rPr sz="900" b="1">
                <a:solidFill>
                  <a:srgbClr val="2E5B45"/>
                </a:solidFill>
              </a:rPr>
              <a:t>MINIPASCAL · CSE 303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4C44312-6B50-4662-AB53-1486CD30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22"/>
                </a:solidFill>
              </a:defRPr>
            </a:pPr>
            <a:r>
              <a:rPr sz="2550" b="1">
                <a:solidFill>
                  <a:srgbClr val="202822"/>
                </a:solidFill>
              </a:rPr>
              <a:t>Syntax Analysis and AST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61189C1-EC6A-4C2A-99A8-4EEE435B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2"/>
          </a:solidFill>
          <a:ln xmlns:a="http://schemas.openxmlformats.org/drawingml/2006/main" w="14288">
            <a:solidFill>
              <a:srgbClr val="202822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6AE6BF1-860D-4CC6-87EE-B4B82F96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169"/>
                </a:solidFill>
              </a:defRPr>
            </a:pPr>
            <a:r>
              <a:rPr sz="750" b="0">
                <a:solidFill>
                  <a:srgbClr val="697169"/>
                </a:solidFill>
              </a:rPr>
              <a:t>MIST  |  CSE 303  |  Compiler Design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3178317-39FF-499A-8E24-E68808FC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169"/>
                </a:solidFill>
              </a:defRPr>
            </a:pPr>
            <a:r>
              <a:rPr sz="750" b="0">
                <a:solidFill>
                  <a:srgbClr val="697169"/>
                </a:solidFill>
              </a:rPr>
              <a:t>9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1748D94-5F65-4189-90B9-E78A4D43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F45"/>
                </a:solidFill>
              </a:defRPr>
            </a:pPr>
            <a:r>
              <a:rPr sz="900" b="1">
                <a:solidFill>
                  <a:srgbClr val="B65F45"/>
                </a:solidFill>
              </a:rPr>
              <a:t>FLOW 03 / 10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77154FD-55AE-4D14-B93B-DE98473B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3430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169"/>
                </a:solidFill>
              </a:defRPr>
            </a:pPr>
            <a:r>
              <a:rPr sz="1275" b="0">
                <a:solidFill>
                  <a:srgbClr val="697169"/>
                </a:solidFill>
              </a:rPr>
              <a:t>The parser verifies grammar and preserves expression structure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0F45D5C-C91E-4911-9691-4FFCABBB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5F45"/>
                </a:solidFill>
              </a:defRPr>
            </a:pPr>
            <a:r>
              <a:rPr sz="975" b="1">
                <a:solidFill>
                  <a:srgbClr val="B65F45"/>
                </a:solidFill>
              </a:rPr>
              <a:t>Input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5D507BA-65BA-4207-B29D-3708EF2E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822"/>
                </a:solidFill>
              </a:defRPr>
            </a:pPr>
            <a:r>
              <a:rPr sz="1650" b="1">
                <a:solidFill>
                  <a:srgbClr val="202822"/>
                </a:solidFill>
              </a:rPr>
              <a:t>x := 2 + 3 * 4;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2245C03-CC42-4F13-A234-B2859C3E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169"/>
                </a:solidFill>
              </a:defRPr>
            </a:pPr>
            <a:r>
              <a:rPr sz="1275" b="0">
                <a:solidFill>
                  <a:srgbClr val="697169"/>
                </a:solidFill>
              </a:rPr>
              <a:t>Multiplication has higher precedence than addition, so the parser represents the expression as 2 + (3 * 4).</a:t>
            </a:r>
          </a:p>
        </p:txBody>
      </p:sp>
      <p:sp>
        <p:nvSpPr>
          <p:cNvPr id="11" name="node-Assignment">
            <a:extLst xmlns:a="http://schemas.openxmlformats.org/drawingml/2006/main">
              <a:ext uri="{FF2B5EF4-FFF2-40B4-BE49-F238E27FC236}">
                <a16:creationId xmlns:a16="http://schemas.microsoft.com/office/drawing/2014/main" id="{466999A3-93F6-4A15-B1BB-004A48EF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1714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Assignment</a:t>
            </a:r>
          </a:p>
        </p:txBody>
      </p:sp>
      <p:sp>
        <p:nvSpPr>
          <p:cNvPr id="12" name="node-x">
            <a:extLst xmlns:a="http://schemas.openxmlformats.org/drawingml/2006/main">
              <a:ext uri="{FF2B5EF4-FFF2-40B4-BE49-F238E27FC236}">
                <a16:creationId xmlns:a16="http://schemas.microsoft.com/office/drawing/2014/main" id="{80744698-9AFF-4089-9AA4-D3D689C1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52750"/>
            <a:ext cx="857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x</a:t>
            </a:r>
          </a:p>
        </p:txBody>
      </p:sp>
      <p:sp>
        <p:nvSpPr>
          <p:cNvPr id="13" name="node-+">
            <a:extLst xmlns:a="http://schemas.openxmlformats.org/drawingml/2006/main">
              <a:ext uri="{FF2B5EF4-FFF2-40B4-BE49-F238E27FC236}">
                <a16:creationId xmlns:a16="http://schemas.microsoft.com/office/drawing/2014/main" id="{989364B5-4498-43C9-AF51-6C8D3CE3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857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+</a:t>
            </a:r>
          </a:p>
        </p:txBody>
      </p:sp>
      <p:sp>
        <p:nvSpPr>
          <p:cNvPr id="14" name="node-2">
            <a:extLst xmlns:a="http://schemas.openxmlformats.org/drawingml/2006/main">
              <a:ext uri="{FF2B5EF4-FFF2-40B4-BE49-F238E27FC236}">
                <a16:creationId xmlns:a16="http://schemas.microsoft.com/office/drawing/2014/main" id="{2D62EB00-99EA-4943-A7C3-00459C9B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95750"/>
            <a:ext cx="76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2</a:t>
            </a:r>
          </a:p>
        </p:txBody>
      </p:sp>
      <p:sp>
        <p:nvSpPr>
          <p:cNvPr id="15" name="node-*">
            <a:extLst xmlns:a="http://schemas.openxmlformats.org/drawingml/2006/main">
              <a:ext uri="{FF2B5EF4-FFF2-40B4-BE49-F238E27FC236}">
                <a16:creationId xmlns:a16="http://schemas.microsoft.com/office/drawing/2014/main" id="{4B23C92C-39A9-4779-A1CC-60A78C3E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95750"/>
            <a:ext cx="76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*</a:t>
            </a:r>
          </a:p>
        </p:txBody>
      </p:sp>
      <p:sp>
        <p:nvSpPr>
          <p:cNvPr id="16" name="node-3">
            <a:extLst xmlns:a="http://schemas.openxmlformats.org/drawingml/2006/main">
              <a:ext uri="{FF2B5EF4-FFF2-40B4-BE49-F238E27FC236}">
                <a16:creationId xmlns:a16="http://schemas.microsoft.com/office/drawing/2014/main" id="{ABF46FE4-6EA1-472A-8D3A-9126490A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38750"/>
            <a:ext cx="685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3</a:t>
            </a:r>
          </a:p>
        </p:txBody>
      </p:sp>
      <p:sp>
        <p:nvSpPr>
          <p:cNvPr id="17" name="node-4">
            <a:extLst xmlns:a="http://schemas.openxmlformats.org/drawingml/2006/main">
              <a:ext uri="{FF2B5EF4-FFF2-40B4-BE49-F238E27FC236}">
                <a16:creationId xmlns:a16="http://schemas.microsoft.com/office/drawing/2014/main" id="{14CA6606-9F9B-4A8D-BB71-46A53430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238750"/>
            <a:ext cx="685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4</a:t>
            </a:r>
          </a:p>
        </p:txBody>
      </p:sp>
      <p:cxnSp>
        <p:nvCxnSpPr>
          <p:cNvPr id="41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5762625" y="2343150"/>
            <a:ext cx="1857375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79E"/>
            </a:solidFill>
            <a:prstDash val="solid"/>
            <a:tailEnd type="arrow" w="med" len="med"/>
          </a:ln>
        </p:spPr>
      </p:cxnSp>
      <p:cxnSp>
        <p:nvCxnSpPr>
          <p:cNvPr id="42" name=""/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7620000" y="2343150"/>
            <a:ext cx="904875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79E"/>
            </a:solidFill>
            <a:prstDash val="solid"/>
            <a:tailEnd type="arrow" w="med" len="med"/>
          </a:ln>
        </p:spPr>
      </p:cxnSp>
      <p:cxnSp>
        <p:nvCxnSpPr>
          <p:cNvPr id="43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7286625" y="3448050"/>
            <a:ext cx="12382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79E"/>
            </a:solidFill>
            <a:prstDash val="solid"/>
            <a:tailEnd type="arrow" w="med" len="med"/>
          </a:ln>
        </p:spPr>
      </p:cxnSp>
      <p:cxnSp>
        <p:nvCxnSpPr>
          <p:cNvPr id="44" name=""/>
          <p:cNvCxnSpPr>
            <a:stCxn xmlns:a="http://schemas.openxmlformats.org/drawingml/2006/main" id="13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8524875" y="3448050"/>
            <a:ext cx="10477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79E"/>
            </a:solidFill>
            <a:prstDash val="solid"/>
            <a:tailEnd type="arrow" w="med" len="med"/>
          </a:ln>
        </p:spPr>
      </p:cxnSp>
      <p:cxnSp>
        <p:nvCxnSpPr>
          <p:cNvPr id="45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8915400" y="4572000"/>
            <a:ext cx="657225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79E"/>
            </a:solidFill>
            <a:prstDash val="solid"/>
            <a:tailEnd type="arrow" w="med" len="med"/>
          </a:ln>
        </p:spPr>
      </p:cxnSp>
      <p:cxnSp>
        <p:nvCxnSpPr>
          <p:cNvPr id="46" name=""/>
          <p:cNvCxnSpPr>
            <a:stCxn xmlns:a="http://schemas.openxmlformats.org/drawingml/2006/main" id="1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9572625" y="4572000"/>
            <a:ext cx="676275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79E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9458470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D7B0718C-D0CA-4A58-8474-510FFA28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5B45"/>
                </a:solidFill>
              </a:defRPr>
            </a:pPr>
            <a:r>
              <a:rPr sz="900" b="1">
                <a:solidFill>
                  <a:srgbClr val="2E5B45"/>
                </a:solidFill>
              </a:rPr>
              <a:t>MINIPASCAL · CSE 303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7F02706-F0F8-4895-AACF-BE75AF22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22"/>
                </a:solidFill>
              </a:defRPr>
            </a:pPr>
            <a:r>
              <a:rPr sz="2550" b="1">
                <a:solidFill>
                  <a:srgbClr val="202822"/>
                </a:solidFill>
              </a:rPr>
              <a:t>Semantic Analysis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FC0D243-4362-4C02-8BF1-B8F7302C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2"/>
          </a:solidFill>
          <a:ln xmlns:a="http://schemas.openxmlformats.org/drawingml/2006/main" w="14288">
            <a:solidFill>
              <a:srgbClr val="202822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CFFE40A-7311-41E8-985D-A83D2EAF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169"/>
                </a:solidFill>
              </a:defRPr>
            </a:pPr>
            <a:r>
              <a:rPr sz="750" b="0">
                <a:solidFill>
                  <a:srgbClr val="697169"/>
                </a:solidFill>
              </a:rPr>
              <a:t>MIST  |  CSE 303  |  Compiler Design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AF8D6C2-7B12-406F-9C07-004491AC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169"/>
                </a:solidFill>
              </a:defRPr>
            </a:pPr>
            <a:r>
              <a:rPr sz="750" b="0">
                <a:solidFill>
                  <a:srgbClr val="697169"/>
                </a:solidFill>
              </a:rPr>
              <a:t>10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9614C28-33CC-4F97-91FA-12956A5B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F45"/>
                </a:solidFill>
              </a:defRPr>
            </a:pPr>
            <a:r>
              <a:rPr sz="900" b="1">
                <a:solidFill>
                  <a:srgbClr val="B65F45"/>
                </a:solidFill>
              </a:rPr>
              <a:t>FLOW 04 / 10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FCA6CE5-0567-48D1-974F-C7753059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3430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169"/>
                </a:solidFill>
              </a:defRPr>
            </a:pPr>
            <a:r>
              <a:rPr sz="1275" b="0">
                <a:solidFill>
                  <a:srgbClr val="697169"/>
                </a:solidFill>
              </a:rPr>
              <a:t>Checks the meaning of a syntactically valid program</a:t>
            </a:r>
          </a:p>
        </p:txBody>
      </p:sp>
      <p:sp>
        <p:nvSpPr>
          <p:cNvPr id="8" name="node-Receive AST">
            <a:extLst xmlns:a="http://schemas.openxmlformats.org/drawingml/2006/main">
              <a:ext uri="{FF2B5EF4-FFF2-40B4-BE49-F238E27FC236}">
                <a16:creationId xmlns:a16="http://schemas.microsoft.com/office/drawing/2014/main" id="{BB567348-16A6-465D-93B3-34C843FF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Receive AST</a:t>
            </a:r>
          </a:p>
        </p:txBody>
      </p:sp>
      <p:sp>
        <p:nvSpPr>
          <p:cNvPr id="9" name="node-Build / update&#10;symbol table">
            <a:extLst xmlns:a="http://schemas.openxmlformats.org/drawingml/2006/main">
              <a:ext uri="{FF2B5EF4-FFF2-40B4-BE49-F238E27FC236}">
                <a16:creationId xmlns:a16="http://schemas.microsoft.com/office/drawing/2014/main" id="{022EBD6F-E6FB-4A4B-AACA-33D2747D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86000"/>
            <a:ext cx="1905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Build / update</a:t>
            </a:r>
          </a:p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symbol table</a:t>
            </a:r>
          </a:p>
        </p:txBody>
      </p:sp>
      <p:sp>
        <p:nvSpPr>
          <p:cNvPr id="10" name="node-Resolve names">
            <a:extLst xmlns:a="http://schemas.openxmlformats.org/drawingml/2006/main">
              <a:ext uri="{FF2B5EF4-FFF2-40B4-BE49-F238E27FC236}">
                <a16:creationId xmlns:a16="http://schemas.microsoft.com/office/drawing/2014/main" id="{6F24CA36-6170-4AFF-93B1-3727B206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812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Resolve names</a:t>
            </a:r>
          </a:p>
        </p:txBody>
      </p:sp>
      <p:sp>
        <p:nvSpPr>
          <p:cNvPr id="11" name="node-Check types&#10;and arguments">
            <a:extLst xmlns:a="http://schemas.openxmlformats.org/drawingml/2006/main">
              <a:ext uri="{FF2B5EF4-FFF2-40B4-BE49-F238E27FC236}">
                <a16:creationId xmlns:a16="http://schemas.microsoft.com/office/drawing/2014/main" id="{88C32E05-90BF-4D58-8EEE-CBED562C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1905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Check types</a:t>
            </a:r>
          </a:p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and arguments</a:t>
            </a:r>
          </a:p>
        </p:txBody>
      </p:sp>
      <p:sp>
        <p:nvSpPr>
          <p:cNvPr id="12" name="node-Semantically&#10;valid AST">
            <a:extLst xmlns:a="http://schemas.openxmlformats.org/drawingml/2006/main">
              <a:ext uri="{FF2B5EF4-FFF2-40B4-BE49-F238E27FC236}">
                <a16:creationId xmlns:a16="http://schemas.microsoft.com/office/drawing/2014/main" id="{28614C2F-B3B6-45DB-A459-46E03F51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86000"/>
            <a:ext cx="14287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B45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7"/>
                </a:solidFill>
              </a:defRPr>
            </a:pPr>
            <a:r>
              <a:rPr sz="1125" b="1">
                <a:solidFill>
                  <a:srgbClr val="FFFDF7"/>
                </a:solidFill>
              </a:rPr>
              <a:t>Semantically</a:t>
            </a:r>
          </a:p>
          <a:p xmlns:a="http://schemas.openxmlformats.org/drawingml/2006/main">
            <a:pPr algn="ctr">
              <a:defRPr sz="1125" b="1">
                <a:solidFill>
                  <a:srgbClr val="FFFDF7"/>
                </a:solidFill>
              </a:defRPr>
            </a:pPr>
            <a:r>
              <a:rPr sz="1125" b="1">
                <a:solidFill>
                  <a:srgbClr val="FFFDF7"/>
                </a:solidFill>
              </a:rPr>
              <a:t>valid AST</a:t>
            </a:r>
          </a:p>
        </p:txBody>
      </p: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381250" y="2647950"/>
            <a:ext cx="619125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905375" y="2647950"/>
            <a:ext cx="714375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  <p:cxnSp>
        <p:nvCxnSpPr>
          <p:cNvPr id="35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7334250" y="2647950"/>
            <a:ext cx="619125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11" idx="3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9858375" y="26479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C043A9C-7B46-408B-8645-5BEB0821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62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F45"/>
                </a:solidFill>
              </a:defRPr>
            </a:pPr>
            <a:r>
              <a:rPr sz="900" b="1">
                <a:solidFill>
                  <a:srgbClr val="B65F45"/>
                </a:solidFill>
              </a:rPr>
              <a:t>MAIN SEMANTIC CHECKS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85D5018-A358-4C40-92E8-911CE060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38625"/>
            <a:ext cx="466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822"/>
                </a:solidFill>
              </a:defRPr>
            </a:pPr>
            <a:r>
              <a:rPr sz="1350" b="0">
                <a:solidFill>
                  <a:srgbClr val="202822"/>
                </a:solidFill>
              </a:rPr>
              <a:t>•  Undefined variable or function</a:t>
            </a:r>
          </a:p>
          <a:p xmlns:a="http://schemas.openxmlformats.org/drawingml/2006/main">
            <a:pPr algn="l">
              <a:defRPr sz="1350" b="0">
                <a:solidFill>
                  <a:srgbClr val="202822"/>
                </a:solidFill>
              </a:defRPr>
            </a:pPr>
            <a:r>
              <a:rPr sz="1350" b="0">
                <a:solidFill>
                  <a:srgbClr val="202822"/>
                </a:solidFill>
              </a:rPr>
              <a:t>•  Duplicate declaration</a:t>
            </a:r>
          </a:p>
          <a:p xmlns:a="http://schemas.openxmlformats.org/drawingml/2006/main">
            <a:pPr algn="l">
              <a:defRPr sz="1350" b="0">
                <a:solidFill>
                  <a:srgbClr val="202822"/>
                </a:solidFill>
              </a:defRPr>
            </a:pPr>
            <a:r>
              <a:rPr sz="1350" b="0">
                <a:solidFill>
                  <a:srgbClr val="202822"/>
                </a:solidFill>
              </a:rPr>
              <a:t>•  Type mismatch</a:t>
            </a:r>
          </a:p>
          <a:p xmlns:a="http://schemas.openxmlformats.org/drawingml/2006/main">
            <a:pPr algn="l">
              <a:defRPr sz="1350" b="0">
                <a:solidFill>
                  <a:srgbClr val="202822"/>
                </a:solidFill>
              </a:defRPr>
            </a:pPr>
            <a:r>
              <a:rPr sz="1350" b="0">
                <a:solidFill>
                  <a:srgbClr val="202822"/>
                </a:solidFill>
              </a:rPr>
              <a:t>•  Wrong number of function arguments</a:t>
            </a:r>
          </a:p>
        </p:txBody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C9BF0439-D3D3-4F66-8710-CE3A43E3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4857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4288">
            <a:solidFill>
              <a:srgbClr val="A8A79E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BAE4F81-7E61-4DEE-BBF3-8AC17BAC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71950"/>
            <a:ext cx="4286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822"/>
                </a:solidFill>
              </a:defRPr>
            </a:pPr>
            <a:r>
              <a:rPr sz="1275" b="0">
                <a:solidFill>
                  <a:srgbClr val="202822"/>
                </a:solidFill>
              </a:rPr>
              <a:t>Name          Type        Scope</a:t>
            </a:r>
          </a:p>
          <a:p xmlns:a="http://schemas.openxmlformats.org/drawingml/2006/main">
            <a:pPr algn="l">
              <a:defRPr sz="1275" b="0">
                <a:solidFill>
                  <a:srgbClr val="202822"/>
                </a:solidFill>
              </a:defRPr>
            </a:pPr>
            <a:r>
              <a:rPr sz="1275" b="0">
                <a:solidFill>
                  <a:srgbClr val="202822"/>
                </a:solidFill>
              </a:rPr>
              <a:t>────────────────────────────</a:t>
            </a:r>
          </a:p>
          <a:p xmlns:a="http://schemas.openxmlformats.org/drawingml/2006/main">
            <a:pPr algn="l">
              <a:defRPr sz="1275" b="0">
                <a:solidFill>
                  <a:srgbClr val="202822"/>
                </a:solidFill>
              </a:defRPr>
            </a:pPr>
            <a:r>
              <a:rPr sz="1275" b="0">
                <a:solidFill>
                  <a:srgbClr val="202822"/>
                </a:solidFill>
              </a:rPr>
              <a:t>price         real        global</a:t>
            </a:r>
          </a:p>
          <a:p xmlns:a="http://schemas.openxmlformats.org/drawingml/2006/main">
            <a:pPr algn="l">
              <a:defRPr sz="1275" b="0">
                <a:solidFill>
                  <a:srgbClr val="202822"/>
                </a:solidFill>
              </a:defRPr>
            </a:pPr>
            <a:r>
              <a:rPr sz="1275" b="0">
                <a:solidFill>
                  <a:srgbClr val="202822"/>
                </a:solidFill>
              </a:rPr>
              <a:t>active        boolean     global</a:t>
            </a:r>
          </a:p>
          <a:p xmlns:a="http://schemas.openxmlformats.org/drawingml/2006/main">
            <a:pPr algn="l">
              <a:defRPr sz="1275" b="0">
                <a:solidFill>
                  <a:srgbClr val="202822"/>
                </a:solidFill>
              </a:defRPr>
            </a:pPr>
            <a:r>
              <a:rPr sz="1275" b="0">
                <a:solidFill>
                  <a:srgbClr val="202822"/>
                </a:solidFill>
              </a:rPr>
              <a:t>add           function    global</a:t>
            </a:r>
          </a:p>
        </p:txBody>
      </p:sp>
    </p:spTree>
    <p:extLst>
      <p:ext uri="{BB962C8B-B14F-4D97-AF65-F5344CB8AC3E}">
        <p14:creationId xmlns:p14="http://schemas.microsoft.com/office/powerpoint/2010/main" val="12176458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">
            <a:extLst xmlns:a="http://schemas.openxmlformats.org/drawingml/2006/main">
              <a:ext uri="{FF2B5EF4-FFF2-40B4-BE49-F238E27FC236}">
                <a16:creationId xmlns:a16="http://schemas.microsoft.com/office/drawing/2014/main" id="{FDA42D20-274D-4303-A4BB-1227F293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5B45"/>
                </a:solidFill>
              </a:defRPr>
            </a:pPr>
            <a:r>
              <a:rPr sz="900" b="1">
                <a:solidFill>
                  <a:srgbClr val="2E5B45"/>
                </a:solidFill>
              </a:rPr>
              <a:t>MINIPASCAL · CSE 303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A7F4E6C-D91B-48D2-AA57-E0374E10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22"/>
                </a:solidFill>
              </a:defRPr>
            </a:pPr>
            <a:r>
              <a:rPr sz="2550" b="1">
                <a:solidFill>
                  <a:srgbClr val="202822"/>
                </a:solidFill>
              </a:rPr>
              <a:t>Error Handling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9D51CE7-5FDC-4C2F-BE31-EADDC24A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2"/>
          </a:solidFill>
          <a:ln xmlns:a="http://schemas.openxmlformats.org/drawingml/2006/main" w="14288">
            <a:solidFill>
              <a:srgbClr val="202822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42D47B6-5278-456A-8869-6FADC80E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169"/>
                </a:solidFill>
              </a:defRPr>
            </a:pPr>
            <a:r>
              <a:rPr sz="750" b="0">
                <a:solidFill>
                  <a:srgbClr val="697169"/>
                </a:solidFill>
              </a:rPr>
              <a:t>MIST  |  CSE 303  |  Compiler Design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05E8AD7-89DF-4BB9-9D75-EEB1D21D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169"/>
                </a:solidFill>
              </a:defRPr>
            </a:pPr>
            <a:r>
              <a:rPr sz="750" b="0">
                <a:solidFill>
                  <a:srgbClr val="697169"/>
                </a:solidFill>
              </a:rPr>
              <a:t>11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38D9C63-B584-49C5-968D-9658263B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F45"/>
                </a:solidFill>
              </a:defRPr>
            </a:pPr>
            <a:r>
              <a:rPr sz="900" b="1">
                <a:solidFill>
                  <a:srgbClr val="B65F45"/>
                </a:solidFill>
              </a:rPr>
              <a:t>FLOW 05 / 10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039DE5B-147F-4302-8A2A-6BC37D01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3430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169"/>
                </a:solidFill>
              </a:defRPr>
            </a:pPr>
            <a:r>
              <a:rPr sz="1275" b="0">
                <a:solidFill>
                  <a:srgbClr val="697169"/>
                </a:solidFill>
              </a:rPr>
              <a:t>Errors are reported at the correct compiler stage</a:t>
            </a:r>
          </a:p>
        </p:txBody>
      </p:sp>
      <p:sp>
        <p:nvSpPr>
          <p:cNvPr id="8" name="node-Source program">
            <a:extLst xmlns:a="http://schemas.openxmlformats.org/drawingml/2006/main">
              <a:ext uri="{FF2B5EF4-FFF2-40B4-BE49-F238E27FC236}">
                <a16:creationId xmlns:a16="http://schemas.microsoft.com/office/drawing/2014/main" id="{24B0DB67-01A2-4A9A-878F-E39DF6F3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1619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Source program</a:t>
            </a:r>
          </a:p>
        </p:txBody>
      </p:sp>
      <p:sp>
        <p:nvSpPr>
          <p:cNvPr id="9" name="node-Lexer">
            <a:extLst xmlns:a="http://schemas.openxmlformats.org/drawingml/2006/main">
              <a:ext uri="{FF2B5EF4-FFF2-40B4-BE49-F238E27FC236}">
                <a16:creationId xmlns:a16="http://schemas.microsoft.com/office/drawing/2014/main" id="{DD9A2974-6BB4-4C3A-9084-AF6D9653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Lexer</a:t>
            </a:r>
          </a:p>
        </p:txBody>
      </p:sp>
      <p:sp>
        <p:nvSpPr>
          <p:cNvPr id="10" name="node-Parser">
            <a:extLst xmlns:a="http://schemas.openxmlformats.org/drawingml/2006/main">
              <a:ext uri="{FF2B5EF4-FFF2-40B4-BE49-F238E27FC236}">
                <a16:creationId xmlns:a16="http://schemas.microsoft.com/office/drawing/2014/main" id="{FB88455B-7970-4DEB-A282-43F0A64F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Parser</a:t>
            </a:r>
          </a:p>
        </p:txBody>
      </p:sp>
      <p:sp>
        <p:nvSpPr>
          <p:cNvPr id="11" name="node-Semantic">
            <a:extLst xmlns:a="http://schemas.openxmlformats.org/drawingml/2006/main">
              <a:ext uri="{FF2B5EF4-FFF2-40B4-BE49-F238E27FC236}">
                <a16:creationId xmlns:a16="http://schemas.microsoft.com/office/drawing/2014/main" id="{C1503ED8-A782-41D4-902F-76BC479D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8125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Semantic</a:t>
            </a:r>
          </a:p>
        </p:txBody>
      </p:sp>
      <p:sp>
        <p:nvSpPr>
          <p:cNvPr id="12" name="node-Continue to IR">
            <a:extLst xmlns:a="http://schemas.openxmlformats.org/drawingml/2006/main">
              <a:ext uri="{FF2B5EF4-FFF2-40B4-BE49-F238E27FC236}">
                <a16:creationId xmlns:a16="http://schemas.microsoft.com/office/drawing/2014/main" id="{653D0E97-0B8E-4C74-85FA-B4D7B394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18097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B45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7"/>
                </a:solidFill>
              </a:defRPr>
            </a:pPr>
            <a:r>
              <a:rPr sz="1125" b="1">
                <a:solidFill>
                  <a:srgbClr val="FFFDF7"/>
                </a:solidFill>
              </a:rPr>
              <a:t>Continue to IR</a:t>
            </a:r>
          </a:p>
        </p:txBody>
      </p:sp>
      <p:cxnSp>
        <p:nvCxnSpPr>
          <p:cNvPr id="4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190750" y="26574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286250" y="26574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  <p:cxnSp>
        <p:nvCxnSpPr>
          <p:cNvPr id="44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381750" y="26574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  <p:cxnSp>
        <p:nvCxnSpPr>
          <p:cNvPr id="45" name=""/>
          <p:cNvCxnSpPr>
            <a:stCxn xmlns:a="http://schemas.openxmlformats.org/drawingml/2006/main" id="11" idx="3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8477250" y="26574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  <p:sp>
        <p:nvSpPr>
          <p:cNvPr id="17" name="node-STOP">
            <a:extLst xmlns:a="http://schemas.openxmlformats.org/drawingml/2006/main">
              <a:ext uri="{FF2B5EF4-FFF2-40B4-BE49-F238E27FC236}">
                <a16:creationId xmlns:a16="http://schemas.microsoft.com/office/drawing/2014/main" id="{E0841106-E19F-4000-ADFB-14C11E3D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05250"/>
            <a:ext cx="95250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5"/>
          </a:solidFill>
          <a:ln xmlns:a="http://schemas.openxmlformats.org/drawingml/2006/main" w="19050">
            <a:solidFill>
              <a:srgbClr val="B65F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7"/>
                </a:solidFill>
              </a:defRPr>
            </a:pPr>
            <a:r>
              <a:rPr sz="1125" b="1">
                <a:solidFill>
                  <a:srgbClr val="FFFDF7"/>
                </a:solidFill>
              </a:rPr>
              <a:t>STOP</a:t>
            </a:r>
          </a:p>
        </p:txBody>
      </p:sp>
      <p:cxnSp>
        <p:nvCxnSpPr>
          <p:cNvPr id="47" name=""/>
          <p:cNvCxnSpPr>
            <a:stCxn xmlns:a="http://schemas.openxmlformats.org/drawingml/2006/main" id="9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3571875" y="2933700"/>
            <a:ext cx="0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65F45"/>
            </a:solidFill>
            <a:prstDash val="solid"/>
            <a:tailEnd type="arrow" w="med" len="med"/>
          </a:ln>
        </p:spPr>
      </p:cxn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1FAE799-349A-4BBD-A536-60EE41C3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14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65F45"/>
                </a:solidFill>
              </a:defRPr>
            </a:pPr>
            <a:r>
              <a:rPr sz="1050" b="1">
                <a:solidFill>
                  <a:srgbClr val="B65F45"/>
                </a:solidFill>
              </a:rPr>
              <a:t>Lexical Error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52ED455-37B7-41CC-8B43-23F30861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196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822"/>
                </a:solidFill>
              </a:defRPr>
            </a:pPr>
            <a:r>
              <a:rPr sz="1050" b="0">
                <a:solidFill>
                  <a:srgbClr val="202822"/>
                </a:solidFill>
              </a:rPr>
              <a:t>Invalid character '@'</a:t>
            </a:r>
          </a:p>
          <a:p xmlns:a="http://schemas.openxmlformats.org/drawingml/2006/main">
            <a:pPr algn="ctr">
              <a:defRPr sz="1050" b="0">
                <a:solidFill>
                  <a:srgbClr val="202822"/>
                </a:solidFill>
              </a:defRPr>
            </a:pPr>
            <a:r>
              <a:rPr sz="1050" b="0">
                <a:solidFill>
                  <a:srgbClr val="202822"/>
                </a:solidFill>
              </a:rPr>
              <a:t>Line 4, Column 9</a:t>
            </a:r>
          </a:p>
        </p:txBody>
      </p:sp>
      <p:sp>
        <p:nvSpPr>
          <p:cNvPr id="21" name="node-STOP">
            <a:extLst xmlns:a="http://schemas.openxmlformats.org/drawingml/2006/main">
              <a:ext uri="{FF2B5EF4-FFF2-40B4-BE49-F238E27FC236}">
                <a16:creationId xmlns:a16="http://schemas.microsoft.com/office/drawing/2014/main" id="{207E1FB6-2C48-4DC8-8701-314980F3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905250"/>
            <a:ext cx="95250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5"/>
          </a:solidFill>
          <a:ln xmlns:a="http://schemas.openxmlformats.org/drawingml/2006/main" w="19050">
            <a:solidFill>
              <a:srgbClr val="B65F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7"/>
                </a:solidFill>
              </a:defRPr>
            </a:pPr>
            <a:r>
              <a:rPr sz="1125" b="1">
                <a:solidFill>
                  <a:srgbClr val="FFFDF7"/>
                </a:solidFill>
              </a:rPr>
              <a:t>STOP</a:t>
            </a:r>
          </a:p>
        </p:txBody>
      </p:sp>
      <p:cxnSp>
        <p:nvCxnSpPr>
          <p:cNvPr id="51" name=""/>
          <p:cNvCxnSpPr>
            <a:stCxn xmlns:a="http://schemas.openxmlformats.org/drawingml/2006/main" id="1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5667375" y="2933700"/>
            <a:ext cx="0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65F45"/>
            </a:solidFill>
            <a:prstDash val="solid"/>
            <a:tailEnd type="arrow" w="med" len="med"/>
          </a:ln>
        </p:spPr>
      </p:cxn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B7CD651-CF31-48E1-AC92-130B75A3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14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65F45"/>
                </a:solidFill>
              </a:defRPr>
            </a:pPr>
            <a:r>
              <a:rPr sz="1050" b="1">
                <a:solidFill>
                  <a:srgbClr val="B65F45"/>
                </a:solidFill>
              </a:rPr>
              <a:t>Syntax Error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2C9F01B-3542-4747-8A81-73D79501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196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822"/>
                </a:solidFill>
              </a:defRPr>
            </a:pPr>
            <a:r>
              <a:rPr sz="1050" b="0">
                <a:solidFill>
                  <a:srgbClr val="202822"/>
                </a:solidFill>
              </a:rPr>
              <a:t>Expected ';' after assignment</a:t>
            </a:r>
          </a:p>
          <a:p xmlns:a="http://schemas.openxmlformats.org/drawingml/2006/main">
            <a:pPr algn="ctr">
              <a:defRPr sz="1050" b="0">
                <a:solidFill>
                  <a:srgbClr val="202822"/>
                </a:solidFill>
              </a:defRPr>
            </a:pPr>
            <a:r>
              <a:rPr sz="1050" b="0">
                <a:solidFill>
                  <a:srgbClr val="202822"/>
                </a:solidFill>
              </a:rPr>
              <a:t>Line 7, Column 14</a:t>
            </a:r>
          </a:p>
        </p:txBody>
      </p:sp>
      <p:sp>
        <p:nvSpPr>
          <p:cNvPr id="25" name="node-STOP">
            <a:extLst xmlns:a="http://schemas.openxmlformats.org/drawingml/2006/main">
              <a:ext uri="{FF2B5EF4-FFF2-40B4-BE49-F238E27FC236}">
                <a16:creationId xmlns:a16="http://schemas.microsoft.com/office/drawing/2014/main" id="{A132A1A5-A305-4F90-8F60-9183369A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905250"/>
            <a:ext cx="95250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5"/>
          </a:solidFill>
          <a:ln xmlns:a="http://schemas.openxmlformats.org/drawingml/2006/main" w="19050">
            <a:solidFill>
              <a:srgbClr val="B65F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7"/>
                </a:solidFill>
              </a:defRPr>
            </a:pPr>
            <a:r>
              <a:rPr sz="1125" b="1">
                <a:solidFill>
                  <a:srgbClr val="FFFDF7"/>
                </a:solidFill>
              </a:rPr>
              <a:t>STOP</a:t>
            </a:r>
          </a:p>
        </p:txBody>
      </p:sp>
      <p:cxnSp>
        <p:nvCxnSpPr>
          <p:cNvPr id="55" name=""/>
          <p:cNvCxnSpPr>
            <a:stCxn xmlns:a="http://schemas.openxmlformats.org/drawingml/2006/main" id="11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7762875" y="2933700"/>
            <a:ext cx="0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65F45"/>
            </a:solidFill>
            <a:prstDash val="solid"/>
            <a:tailEnd type="arrow" w="med" len="med"/>
          </a:ln>
        </p:spPr>
      </p:cxn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85ED2495-E965-4DB4-931E-B56430E0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14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65F45"/>
                </a:solidFill>
              </a:defRPr>
            </a:pPr>
            <a:r>
              <a:rPr sz="1050" b="1">
                <a:solidFill>
                  <a:srgbClr val="B65F45"/>
                </a:solidFill>
              </a:rPr>
              <a:t>Semantic Error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D5B421C-813C-4A3A-AA34-AC2C2D7E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196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2822"/>
                </a:solidFill>
              </a:defRPr>
            </a:pPr>
            <a:r>
              <a:rPr sz="1050" b="0">
                <a:solidFill>
                  <a:srgbClr val="202822"/>
                </a:solidFill>
              </a:rPr>
              <a:t>Variable 'y' is not declared</a:t>
            </a:r>
          </a:p>
          <a:p xmlns:a="http://schemas.openxmlformats.org/drawingml/2006/main">
            <a:pPr algn="ctr">
              <a:defRPr sz="1050" b="0">
                <a:solidFill>
                  <a:srgbClr val="202822"/>
                </a:solidFill>
              </a:defRPr>
            </a:pPr>
            <a:r>
              <a:rPr sz="1050" b="0">
                <a:solidFill>
                  <a:srgbClr val="202822"/>
                </a:solidFill>
              </a:rPr>
              <a:t>Line 5, Column 10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DCB491F1-EA74-4698-9000-6DA03E45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5B45"/>
                </a:solidFill>
              </a:defRPr>
            </a:pPr>
            <a:r>
              <a:rPr sz="1350" b="1">
                <a:solidFill>
                  <a:srgbClr val="2E5B45"/>
                </a:solidFill>
              </a:rPr>
              <a:t>Goal: fail early, report precisely, and make debugging easier.</a:t>
            </a:r>
          </a:p>
        </p:txBody>
      </p:sp>
    </p:spTree>
    <p:extLst>
      <p:ext uri="{BB962C8B-B14F-4D97-AF65-F5344CB8AC3E}">
        <p14:creationId xmlns:p14="http://schemas.microsoft.com/office/powerpoint/2010/main" val="11455911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545422F6-E33E-4358-8DF6-F254C436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5B45"/>
                </a:solidFill>
              </a:defRPr>
            </a:pPr>
            <a:r>
              <a:rPr sz="900" b="1">
                <a:solidFill>
                  <a:srgbClr val="2E5B45"/>
                </a:solidFill>
              </a:rPr>
              <a:t>MINIPASCAL · CSE 303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6506DDD-FA90-4AB9-BF43-A3147F12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22"/>
                </a:solidFill>
              </a:defRPr>
            </a:pPr>
            <a:r>
              <a:rPr sz="2550" b="1">
                <a:solidFill>
                  <a:srgbClr val="202822"/>
                </a:solidFill>
              </a:rPr>
              <a:t>Intermediate Representation (IR)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7C8BCFD-BACE-4F23-8C16-42F37766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2"/>
          </a:solidFill>
          <a:ln xmlns:a="http://schemas.openxmlformats.org/drawingml/2006/main" w="14288">
            <a:solidFill>
              <a:srgbClr val="202822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F0216FD-B62E-4416-8041-112F347B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169"/>
                </a:solidFill>
              </a:defRPr>
            </a:pPr>
            <a:r>
              <a:rPr sz="750" b="0">
                <a:solidFill>
                  <a:srgbClr val="697169"/>
                </a:solidFill>
              </a:rPr>
              <a:t>MIST  |  CSE 303  |  Compiler Design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705C37A-0E36-4CC1-9710-3444DE67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169"/>
                </a:solidFill>
              </a:defRPr>
            </a:pPr>
            <a:r>
              <a:rPr sz="750" b="0">
                <a:solidFill>
                  <a:srgbClr val="697169"/>
                </a:solidFill>
              </a:rPr>
              <a:t>12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E3D238A-9194-4003-B760-71D916F2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F45"/>
                </a:solidFill>
              </a:defRPr>
            </a:pPr>
            <a:r>
              <a:rPr sz="900" b="1">
                <a:solidFill>
                  <a:srgbClr val="B65F45"/>
                </a:solidFill>
              </a:rPr>
              <a:t>FLOW 06 / 10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D8F55E8-CA6B-4721-A82D-F28D5EB8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3430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169"/>
                </a:solidFill>
              </a:defRPr>
            </a:pPr>
            <a:r>
              <a:rPr sz="1275" b="0">
                <a:solidFill>
                  <a:srgbClr val="697169"/>
                </a:solidFill>
              </a:rPr>
              <a:t>IR connects the frontend with the backend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0AD7FD84-3439-45F7-B105-3974B956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813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2"/>
          </a:solidFill>
          <a:ln xmlns:a="http://schemas.openxmlformats.org/drawingml/2006/main" w="14288">
            <a:solidFill>
              <a:srgbClr val="202822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D2AABAF-B0C2-4DE0-BCE1-A50ACC5B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A33A"/>
                </a:solidFill>
              </a:defRPr>
            </a:pPr>
            <a:r>
              <a:rPr sz="900" b="1">
                <a:solidFill>
                  <a:srgbClr val="D8A33A"/>
                </a:solidFill>
              </a:rPr>
              <a:t>MINIPASCAL SOURCE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621F4F8-33B9-43E8-AC53-1847D898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276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DF7"/>
                </a:solidFill>
              </a:defRPr>
            </a:pPr>
            <a:r>
              <a:rPr sz="1350" b="0">
                <a:solidFill>
                  <a:srgbClr val="FFFDF7"/>
                </a:solidFill>
              </a:rPr>
              <a:t>x := 10 + 20;</a:t>
            </a:r>
          </a:p>
          <a:p xmlns:a="http://schemas.openxmlformats.org/drawingml/2006/main">
            <a:pPr algn="l">
              <a:defRPr sz="1350" b="0">
                <a:solidFill>
                  <a:srgbClr val="FFFDF7"/>
                </a:solidFill>
              </a:defRPr>
            </a:pPr>
            <a:r>
              <a:rPr sz="1350" b="0">
                <a:solidFill>
                  <a:srgbClr val="FFFDF7"/>
                </a:solidFill>
              </a:rPr>
              <a:t>if x &gt; 25 then</a:t>
            </a:r>
          </a:p>
          <a:p xmlns:a="http://schemas.openxmlformats.org/drawingml/2006/main">
            <a:pPr algn="l">
              <a:defRPr sz="1350" b="0">
                <a:solidFill>
                  <a:srgbClr val="FFFDF7"/>
                </a:solidFill>
              </a:defRPr>
            </a:pPr>
            <a:r>
              <a:rPr sz="1350" b="0">
                <a:solidFill>
                  <a:srgbClr val="FFFDF7"/>
                </a:solidFill>
              </a:rPr>
              <a:t>    writeln(x);</a:t>
            </a:r>
          </a:p>
        </p:txBody>
      </p:sp>
      <p:sp>
        <p:nvSpPr>
          <p:cNvPr id="11" name="node-Lower expressions&#10;and control flow">
            <a:extLst xmlns:a="http://schemas.openxmlformats.org/drawingml/2006/main">
              <a:ext uri="{FF2B5EF4-FFF2-40B4-BE49-F238E27FC236}">
                <a16:creationId xmlns:a16="http://schemas.microsoft.com/office/drawing/2014/main" id="{52B97E53-06F5-4B83-93CD-4214810C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095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Lower expressions</a:t>
            </a:r>
          </a:p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and control flow</a:t>
            </a:r>
          </a:p>
        </p:txBody>
      </p:sp>
      <p:sp>
        <p:nvSpPr>
          <p:cNvPr id="12" name="node-Validate labels&#10;and temporaries">
            <a:extLst xmlns:a="http://schemas.openxmlformats.org/drawingml/2006/main">
              <a:ext uri="{FF2B5EF4-FFF2-40B4-BE49-F238E27FC236}">
                <a16:creationId xmlns:a16="http://schemas.microsoft.com/office/drawing/2014/main" id="{22EE0020-24A5-435D-8915-8E49EAA4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2095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Validate labels</a:t>
            </a:r>
          </a:p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and temporaries</a:t>
            </a:r>
          </a:p>
        </p:txBody>
      </p:sp>
      <p:cxnSp>
        <p:nvCxnSpPr>
          <p:cNvPr id="31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858000" y="32194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6D250428-B9C2-40D3-AC1C-8ABD962B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00250"/>
            <a:ext cx="1714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4288">
            <a:solidFill>
              <a:srgbClr val="A8A79E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953764C-D05A-4E92-B2F2-CABA6277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098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F45"/>
                </a:solidFill>
              </a:defRPr>
            </a:pPr>
            <a:r>
              <a:rPr sz="900" b="1">
                <a:solidFill>
                  <a:srgbClr val="B65F45"/>
                </a:solidFill>
              </a:rPr>
              <a:t>THREE-ADDRESS IR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FF129B4-BE09-4B00-A639-D4BB1FBC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47950"/>
            <a:ext cx="1428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22"/>
                </a:solidFill>
              </a:defRPr>
            </a:pPr>
            <a:r>
              <a:rPr sz="975" b="0">
                <a:solidFill>
                  <a:srgbClr val="202822"/>
                </a:solidFill>
              </a:rPr>
              <a:t>t1 = 10 + 20</a:t>
            </a:r>
          </a:p>
          <a:p xmlns:a="http://schemas.openxmlformats.org/drawingml/2006/main">
            <a:pPr algn="l">
              <a:defRPr sz="975" b="0">
                <a:solidFill>
                  <a:srgbClr val="202822"/>
                </a:solidFill>
              </a:defRPr>
            </a:pPr>
            <a:r>
              <a:rPr sz="975" b="0">
                <a:solidFill>
                  <a:srgbClr val="202822"/>
                </a:solidFill>
              </a:rPr>
              <a:t>x = t1</a:t>
            </a:r>
          </a:p>
          <a:p xmlns:a="http://schemas.openxmlformats.org/drawingml/2006/main">
            <a:pPr algn="l">
              <a:defRPr sz="975" b="0">
                <a:solidFill>
                  <a:srgbClr val="202822"/>
                </a:solidFill>
              </a:defRPr>
            </a:pPr>
            <a:r>
              <a:rPr sz="975" b="0">
                <a:solidFill>
                  <a:srgbClr val="202822"/>
                </a:solidFill>
              </a:rPr>
              <a:t>t2 = x &gt; 25</a:t>
            </a:r>
          </a:p>
          <a:p xmlns:a="http://schemas.openxmlformats.org/drawingml/2006/main">
            <a:pPr algn="l">
              <a:defRPr sz="975" b="0">
                <a:solidFill>
                  <a:srgbClr val="202822"/>
                </a:solidFill>
              </a:defRPr>
            </a:pPr>
            <a:r>
              <a:rPr sz="975" b="0">
                <a:solidFill>
                  <a:srgbClr val="202822"/>
                </a:solidFill>
              </a:rPr>
              <a:t>IF t2 GOTO L1</a:t>
            </a:r>
          </a:p>
          <a:p xmlns:a="http://schemas.openxmlformats.org/drawingml/2006/main">
            <a:pPr algn="l">
              <a:defRPr sz="975" b="0">
                <a:solidFill>
                  <a:srgbClr val="202822"/>
                </a:solidFill>
              </a:defRPr>
            </a:pPr>
            <a:r>
              <a:rPr sz="975" b="0">
                <a:solidFill>
                  <a:srgbClr val="202822"/>
                </a:solidFill>
              </a:rPr>
              <a:t>GOTO L2</a:t>
            </a:r>
          </a:p>
          <a:p xmlns:a="http://schemas.openxmlformats.org/drawingml/2006/main">
            <a:pPr algn="l">
              <a:defRPr sz="975" b="0">
                <a:solidFill>
                  <a:srgbClr val="202822"/>
                </a:solidFill>
              </a:defRPr>
            </a:pPr>
            <a:r>
              <a:rPr sz="975" b="0">
                <a:solidFill>
                  <a:srgbClr val="202822"/>
                </a:solidFill>
              </a:rPr>
              <a:t>L1: CALL writeln, x</a:t>
            </a:r>
          </a:p>
          <a:p xmlns:a="http://schemas.openxmlformats.org/drawingml/2006/main">
            <a:pPr algn="l">
              <a:defRPr sz="975" b="0">
                <a:solidFill>
                  <a:srgbClr val="202822"/>
                </a:solidFill>
              </a:defRPr>
            </a:pPr>
            <a:r>
              <a:rPr sz="975" b="0">
                <a:solidFill>
                  <a:srgbClr val="202822"/>
                </a:solidFill>
              </a:rPr>
              <a:t>L2: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92F4A6D9-67B2-453C-9B0E-D96A855D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00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7"/>
          </a:solidFill>
          <a:ln xmlns:a="http://schemas.openxmlformats.org/drawingml/2006/main" w="14288">
            <a:solidFill>
              <a:srgbClr val="F3F0E7"/>
            </a:solidFill>
            <a:prstDash val="solid"/>
          </a:ln>
        </p:spPr>
      </p:sp>
      <p:cxnSp>
        <p:nvCxnSpPr>
          <p:cNvPr id="36" name=""/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9525000" y="3048000"/>
            <a:ext cx="19050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5534580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19FEA6F1-23C4-442E-87DF-1E818E05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5B45"/>
                </a:solidFill>
              </a:defRPr>
            </a:pPr>
            <a:r>
              <a:rPr sz="900" b="1">
                <a:solidFill>
                  <a:srgbClr val="2E5B45"/>
                </a:solidFill>
              </a:rPr>
              <a:t>MINIPASCAL · CSE 303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44108E-3D40-44F8-BA5B-EF8106C5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22"/>
                </a:solidFill>
              </a:defRPr>
            </a:pPr>
            <a:r>
              <a:rPr sz="2550" b="1">
                <a:solidFill>
                  <a:srgbClr val="202822"/>
                </a:solidFill>
              </a:rPr>
              <a:t>Code Generation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C97FE28-CC0E-49CB-915A-006E2825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2"/>
          </a:solidFill>
          <a:ln xmlns:a="http://schemas.openxmlformats.org/drawingml/2006/main" w="14288">
            <a:solidFill>
              <a:srgbClr val="202822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D49FDE5-F11B-4796-9A00-FCE50161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169"/>
                </a:solidFill>
              </a:defRPr>
            </a:pPr>
            <a:r>
              <a:rPr sz="750" b="0">
                <a:solidFill>
                  <a:srgbClr val="697169"/>
                </a:solidFill>
              </a:rPr>
              <a:t>MIST  |  CSE 303  |  Compiler Design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89482DE-5622-476B-A5AC-78074E00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169"/>
                </a:solidFill>
              </a:defRPr>
            </a:pPr>
            <a:r>
              <a:rPr sz="750" b="0">
                <a:solidFill>
                  <a:srgbClr val="697169"/>
                </a:solidFill>
              </a:rPr>
              <a:t>13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5BDB77C-B7DE-46F2-9038-4838057C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F45"/>
                </a:solidFill>
              </a:defRPr>
            </a:pPr>
            <a:r>
              <a:rPr sz="900" b="1">
                <a:solidFill>
                  <a:srgbClr val="B65F45"/>
                </a:solidFill>
              </a:rPr>
              <a:t>FLOW 07 / 10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319592E-A223-4FE7-8E54-B0EA1C9D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3430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169"/>
                </a:solidFill>
              </a:defRPr>
            </a:pPr>
            <a:r>
              <a:rPr sz="1275" b="0">
                <a:solidFill>
                  <a:srgbClr val="697169"/>
                </a:solidFill>
              </a:rPr>
              <a:t>The backend converts IR into executable or runnable behavior</a:t>
            </a:r>
          </a:p>
        </p:txBody>
      </p:sp>
      <p:sp>
        <p:nvSpPr>
          <p:cNvPr id="8" name="node-MiniPascal IR">
            <a:extLst xmlns:a="http://schemas.openxmlformats.org/drawingml/2006/main">
              <a:ext uri="{FF2B5EF4-FFF2-40B4-BE49-F238E27FC236}">
                <a16:creationId xmlns:a16="http://schemas.microsoft.com/office/drawing/2014/main" id="{0435D0E1-FD9B-4FD0-A3F8-1958F180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20955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B45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7"/>
                </a:solidFill>
              </a:defRPr>
            </a:pPr>
            <a:r>
              <a:rPr sz="1125" b="1">
                <a:solidFill>
                  <a:srgbClr val="FFFDF7"/>
                </a:solidFill>
              </a:rPr>
              <a:t>MiniPascal IR</a:t>
            </a:r>
          </a:p>
        </p:txBody>
      </p:sp>
      <p:sp>
        <p:nvSpPr>
          <p:cNvPr id="9" name="node-LLVM IR / Bytecode">
            <a:extLst xmlns:a="http://schemas.openxmlformats.org/drawingml/2006/main">
              <a:ext uri="{FF2B5EF4-FFF2-40B4-BE49-F238E27FC236}">
                <a16:creationId xmlns:a16="http://schemas.microsoft.com/office/drawing/2014/main" id="{1F837521-78B5-47B1-AB50-49CEB9A7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2095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LLVM IR / Bytecode</a:t>
            </a:r>
          </a:p>
        </p:txBody>
      </p:sp>
      <p:sp>
        <p:nvSpPr>
          <p:cNvPr id="10" name="node-Backend Runtime">
            <a:extLst xmlns:a="http://schemas.openxmlformats.org/drawingml/2006/main">
              <a:ext uri="{FF2B5EF4-FFF2-40B4-BE49-F238E27FC236}">
                <a16:creationId xmlns:a16="http://schemas.microsoft.com/office/drawing/2014/main" id="{0F13839A-0C13-4B24-81BE-19E5DDCB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2095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Backend Runtime</a:t>
            </a:r>
          </a:p>
        </p:txBody>
      </p:sp>
      <p:sp>
        <p:nvSpPr>
          <p:cNvPr id="11" name="node-Output">
            <a:extLst xmlns:a="http://schemas.openxmlformats.org/drawingml/2006/main">
              <a:ext uri="{FF2B5EF4-FFF2-40B4-BE49-F238E27FC236}">
                <a16:creationId xmlns:a16="http://schemas.microsoft.com/office/drawing/2014/main" id="{C474F54C-CFB2-4BD5-B8AF-05099A73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76500"/>
            <a:ext cx="20955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5"/>
          </a:solidFill>
          <a:ln xmlns:a="http://schemas.openxmlformats.org/drawingml/2006/main" w="19050">
            <a:solidFill>
              <a:srgbClr val="B65F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7"/>
                </a:solidFill>
              </a:defRPr>
            </a:pPr>
            <a:r>
              <a:rPr sz="1125" b="1">
                <a:solidFill>
                  <a:srgbClr val="FFFDF7"/>
                </a:solidFill>
              </a:rPr>
              <a:t>Output</a:t>
            </a:r>
          </a:p>
        </p:txBody>
      </p:sp>
      <p:cxnSp>
        <p:nvCxnSpPr>
          <p:cNvPr id="27" name=""/>
          <p:cNvCxnSpPr>
            <a:stCxn xmlns:a="http://schemas.openxmlformats.org/drawingml/2006/main" id="8" idx="6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667000" y="28003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429250" y="28003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10" idx="3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8286750" y="28003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679C01C-F137-4382-A690-CFDB0952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822"/>
                </a:solidFill>
              </a:defRPr>
            </a:pPr>
            <a:r>
              <a:rPr sz="1350" b="0">
                <a:solidFill>
                  <a:srgbClr val="202822"/>
                </a:solidFill>
              </a:rPr>
              <a:t>•  Frontend handles language rules and semantic correctness.</a:t>
            </a:r>
          </a:p>
          <a:p xmlns:a="http://schemas.openxmlformats.org/drawingml/2006/main">
            <a:pPr algn="l">
              <a:defRPr sz="1350" b="0">
                <a:solidFill>
                  <a:srgbClr val="202822"/>
                </a:solidFill>
              </a:defRPr>
            </a:pPr>
            <a:r>
              <a:rPr sz="1350" b="0">
                <a:solidFill>
                  <a:srgbClr val="202822"/>
                </a:solidFill>
              </a:rPr>
              <a:t>•  Backend handles lowered IR and program execution.</a:t>
            </a:r>
          </a:p>
          <a:p xmlns:a="http://schemas.openxmlformats.org/drawingml/2006/main">
            <a:pPr algn="l">
              <a:defRPr sz="1350" b="0">
                <a:solidFill>
                  <a:srgbClr val="202822"/>
                </a:solidFill>
              </a:defRPr>
            </a:pPr>
            <a:r>
              <a:rPr sz="1350" b="0">
                <a:solidFill>
                  <a:srgbClr val="202822"/>
                </a:solidFill>
              </a:rPr>
              <a:t>•  The design can later be extended with more types, functions and optimization.</a:t>
            </a:r>
          </a:p>
        </p:txBody>
      </p:sp>
    </p:spTree>
    <p:extLst>
      <p:ext uri="{BB962C8B-B14F-4D97-AF65-F5344CB8AC3E}">
        <p14:creationId xmlns:p14="http://schemas.microsoft.com/office/powerpoint/2010/main" val="1487616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810FCC2F-75D6-42FA-8A18-C90CB8B1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5B45"/>
                </a:solidFill>
              </a:defRPr>
            </a:pPr>
            <a:r>
              <a:rPr sz="900" b="1">
                <a:solidFill>
                  <a:srgbClr val="2E5B45"/>
                </a:solidFill>
              </a:rPr>
              <a:t>MINIPASCAL · CSE 303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F5DC901-3204-45EC-8D26-571DB762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22"/>
                </a:solidFill>
              </a:defRPr>
            </a:pPr>
            <a:r>
              <a:rPr sz="2550" b="1">
                <a:solidFill>
                  <a:srgbClr val="202822"/>
                </a:solidFill>
              </a:rPr>
              <a:t>Testing and Demonstration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0C6C23F-20A3-416F-BF57-813D73A5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2"/>
          </a:solidFill>
          <a:ln xmlns:a="http://schemas.openxmlformats.org/drawingml/2006/main" w="14288">
            <a:solidFill>
              <a:srgbClr val="202822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7F6ECF4-3984-4FE5-8C16-013E64F9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169"/>
                </a:solidFill>
              </a:defRPr>
            </a:pPr>
            <a:r>
              <a:rPr sz="750" b="0">
                <a:solidFill>
                  <a:srgbClr val="697169"/>
                </a:solidFill>
              </a:rPr>
              <a:t>MIST  |  CSE 303  |  Compiler Design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76AB267-FE4B-4085-ABE5-A96AD2C8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169"/>
                </a:solidFill>
              </a:defRPr>
            </a:pPr>
            <a:r>
              <a:rPr sz="750" b="0">
                <a:solidFill>
                  <a:srgbClr val="697169"/>
                </a:solidFill>
              </a:rPr>
              <a:t>14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3619986-771F-4FB2-B42F-179DE3B3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F45"/>
                </a:solidFill>
              </a:defRPr>
            </a:pPr>
            <a:r>
              <a:rPr sz="900" b="1">
                <a:solidFill>
                  <a:srgbClr val="B65F45"/>
                </a:solidFill>
              </a:rPr>
              <a:t>FLOW 08 / 10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22E7AE8-6868-4D7C-A7E6-43958DAD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3430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169"/>
                </a:solidFill>
              </a:defRPr>
            </a:pPr>
            <a:r>
              <a:rPr sz="1275" b="0">
                <a:solidFill>
                  <a:srgbClr val="697169"/>
                </a:solidFill>
              </a:rPr>
              <a:t>Each compiler stage is tested separately and then end-to-end</a:t>
            </a:r>
          </a:p>
        </p:txBody>
      </p:sp>
      <p:sp>
        <p:nvSpPr>
          <p:cNvPr id="8" name="node-Lexer tests">
            <a:extLst xmlns:a="http://schemas.openxmlformats.org/drawingml/2006/main">
              <a:ext uri="{FF2B5EF4-FFF2-40B4-BE49-F238E27FC236}">
                <a16:creationId xmlns:a16="http://schemas.microsoft.com/office/drawing/2014/main" id="{3658394B-9429-4145-848D-6007F6A6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266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Lexer tests</a:t>
            </a:r>
          </a:p>
        </p:txBody>
      </p:sp>
      <p:sp>
        <p:nvSpPr>
          <p:cNvPr id="9" name="node-Parser tests">
            <a:extLst xmlns:a="http://schemas.openxmlformats.org/drawingml/2006/main">
              <a:ext uri="{FF2B5EF4-FFF2-40B4-BE49-F238E27FC236}">
                <a16:creationId xmlns:a16="http://schemas.microsoft.com/office/drawing/2014/main" id="{BD13A09B-1A46-4E1B-8EBB-616493E4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95500"/>
            <a:ext cx="266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Parser tests</a:t>
            </a:r>
          </a:p>
        </p:txBody>
      </p:sp>
      <p:sp>
        <p:nvSpPr>
          <p:cNvPr id="10" name="node-Semantic tests">
            <a:extLst xmlns:a="http://schemas.openxmlformats.org/drawingml/2006/main">
              <a:ext uri="{FF2B5EF4-FFF2-40B4-BE49-F238E27FC236}">
                <a16:creationId xmlns:a16="http://schemas.microsoft.com/office/drawing/2014/main" id="{5579C24E-41DF-4E6B-9523-D4729513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95500"/>
            <a:ext cx="266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Semantic tests</a:t>
            </a:r>
          </a:p>
        </p:txBody>
      </p:sp>
      <p:sp>
        <p:nvSpPr>
          <p:cNvPr id="11" name="node-IR tests">
            <a:extLst xmlns:a="http://schemas.openxmlformats.org/drawingml/2006/main">
              <a:ext uri="{FF2B5EF4-FFF2-40B4-BE49-F238E27FC236}">
                <a16:creationId xmlns:a16="http://schemas.microsoft.com/office/drawing/2014/main" id="{ABF65483-712B-4B31-9362-A6765460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0"/>
            <a:ext cx="266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IR tests</a:t>
            </a:r>
          </a:p>
        </p:txBody>
      </p:sp>
      <p:sp>
        <p:nvSpPr>
          <p:cNvPr id="12" name="node-Code generation">
            <a:extLst xmlns:a="http://schemas.openxmlformats.org/drawingml/2006/main">
              <a:ext uri="{FF2B5EF4-FFF2-40B4-BE49-F238E27FC236}">
                <a16:creationId xmlns:a16="http://schemas.microsoft.com/office/drawing/2014/main" id="{3B1FC904-97E9-4F79-BF6F-D209B710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10000"/>
            <a:ext cx="266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Code generation</a:t>
            </a:r>
          </a:p>
        </p:txBody>
      </p:sp>
      <p:sp>
        <p:nvSpPr>
          <p:cNvPr id="13" name="node-End-to-end output">
            <a:extLst xmlns:a="http://schemas.openxmlformats.org/drawingml/2006/main">
              <a:ext uri="{FF2B5EF4-FFF2-40B4-BE49-F238E27FC236}">
                <a16:creationId xmlns:a16="http://schemas.microsoft.com/office/drawing/2014/main" id="{A2FF9A6D-4B75-4C1A-9B24-6A72BFDE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10000"/>
            <a:ext cx="266700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5"/>
          </a:solidFill>
          <a:ln xmlns:a="http://schemas.openxmlformats.org/drawingml/2006/main" w="19050">
            <a:solidFill>
              <a:srgbClr val="B65F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7"/>
                </a:solidFill>
              </a:defRPr>
            </a:pPr>
            <a:r>
              <a:rPr sz="1125" b="1">
                <a:solidFill>
                  <a:srgbClr val="FFFDF7"/>
                </a:solidFill>
              </a:rPr>
              <a:t>End-to-end output</a:t>
            </a:r>
          </a:p>
        </p:txBody>
      </p: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86125" y="23907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00875" y="23907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  <p:cxnSp>
        <p:nvCxnSpPr>
          <p:cNvPr id="35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1952625" y="2686050"/>
            <a:ext cx="7429500" cy="1123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286125" y="41052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12" idx="3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7000875" y="41052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29AEB20-F36A-445D-9DB4-3788652F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482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97169"/>
                </a:solidFill>
              </a:defRPr>
            </a:pPr>
            <a:r>
              <a:rPr sz="1125" b="0">
                <a:solidFill>
                  <a:srgbClr val="697169"/>
                </a:solidFill>
              </a:rPr>
              <a:t>Lexer: keywords, numbers, operators, invalid characters  ·  Parser: declarations, precedence, invalid syntax  ·  Semantic: undefined names, duplicates, type errors</a:t>
            </a:r>
          </a:p>
        </p:txBody>
      </p:sp>
    </p:spTree>
    <p:extLst>
      <p:ext uri="{BB962C8B-B14F-4D97-AF65-F5344CB8AC3E}">
        <p14:creationId xmlns:p14="http://schemas.microsoft.com/office/powerpoint/2010/main" val="9911733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50E29550-CE3F-482A-8E5A-D76D3283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5B45"/>
                </a:solidFill>
              </a:defRPr>
            </a:pPr>
            <a:r>
              <a:rPr sz="900" b="1">
                <a:solidFill>
                  <a:srgbClr val="2E5B45"/>
                </a:solidFill>
              </a:rPr>
              <a:t>MINIPASCAL · CSE 303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F4E441D-975C-4FEC-8AEB-C23F41FF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22"/>
                </a:solidFill>
              </a:defRPr>
            </a:pPr>
            <a:r>
              <a:rPr sz="2550" b="1">
                <a:solidFill>
                  <a:srgbClr val="202822"/>
                </a:solidFill>
              </a:rPr>
              <a:t>Live Defense Flow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16FCABA-C912-4ABF-99E7-5628C372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2"/>
          </a:solidFill>
          <a:ln xmlns:a="http://schemas.openxmlformats.org/drawingml/2006/main" w="14288">
            <a:solidFill>
              <a:srgbClr val="202822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57FA184-75A5-4482-8ED8-3FC814BE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169"/>
                </a:solidFill>
              </a:defRPr>
            </a:pPr>
            <a:r>
              <a:rPr sz="750" b="0">
                <a:solidFill>
                  <a:srgbClr val="697169"/>
                </a:solidFill>
              </a:rPr>
              <a:t>MIST  |  CSE 303  |  Compiler Design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1BF3181-6CDF-4CD2-9657-6805B8BA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169"/>
                </a:solidFill>
              </a:defRPr>
            </a:pPr>
            <a:r>
              <a:rPr sz="750" b="0">
                <a:solidFill>
                  <a:srgbClr val="697169"/>
                </a:solidFill>
              </a:rPr>
              <a:t>15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0BE7833-1FFB-4385-89D1-3B1B604E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F45"/>
                </a:solidFill>
              </a:defRPr>
            </a:pPr>
            <a:r>
              <a:rPr sz="900" b="1">
                <a:solidFill>
                  <a:srgbClr val="B65F45"/>
                </a:solidFill>
              </a:rPr>
              <a:t>FLOW 09 / 10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50EA586-0DC0-4B0A-8F3C-1D8332EE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3430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169"/>
                </a:solidFill>
              </a:defRPr>
            </a:pPr>
            <a:r>
              <a:rPr sz="1275" b="0">
                <a:solidFill>
                  <a:srgbClr val="697169"/>
                </a:solidFill>
              </a:rPr>
              <a:t>A clean demonstration sequence for the project defense</a:t>
            </a:r>
          </a:p>
        </p:txBody>
      </p:sp>
      <p:sp>
        <p:nvSpPr>
          <p:cNvPr id="8" name="node-Open source program">
            <a:extLst xmlns:a="http://schemas.openxmlformats.org/drawingml/2006/main">
              <a:ext uri="{FF2B5EF4-FFF2-40B4-BE49-F238E27FC236}">
                <a16:creationId xmlns:a16="http://schemas.microsoft.com/office/drawing/2014/main" id="{AF811CCD-9B89-4D28-90AD-1981DB66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5240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B45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7"/>
                </a:solidFill>
              </a:defRPr>
            </a:pPr>
            <a:r>
              <a:rPr sz="1125" b="1">
                <a:solidFill>
                  <a:srgbClr val="FFFDF7"/>
                </a:solidFill>
              </a:rPr>
              <a:t>Open source program</a:t>
            </a:r>
          </a:p>
        </p:txBody>
      </p:sp>
      <p:sp>
        <p:nvSpPr>
          <p:cNvPr id="9" name="node-Show tokens">
            <a:extLst xmlns:a="http://schemas.openxmlformats.org/drawingml/2006/main">
              <a:ext uri="{FF2B5EF4-FFF2-40B4-BE49-F238E27FC236}">
                <a16:creationId xmlns:a16="http://schemas.microsoft.com/office/drawing/2014/main" id="{925F5138-5A5A-4493-84F4-1C0DF526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667000"/>
            <a:ext cx="1524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Show tokens</a:t>
            </a:r>
          </a:p>
        </p:txBody>
      </p:sp>
      <p:sp>
        <p:nvSpPr>
          <p:cNvPr id="10" name="node-Print AST">
            <a:extLst xmlns:a="http://schemas.openxmlformats.org/drawingml/2006/main">
              <a:ext uri="{FF2B5EF4-FFF2-40B4-BE49-F238E27FC236}">
                <a16:creationId xmlns:a16="http://schemas.microsoft.com/office/drawing/2014/main" id="{01E27C75-EAFF-423A-8F72-B33BEF16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1524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Print AST</a:t>
            </a:r>
          </a:p>
        </p:txBody>
      </p:sp>
      <p:sp>
        <p:nvSpPr>
          <p:cNvPr id="11" name="node-Show symbol table">
            <a:extLst xmlns:a="http://schemas.openxmlformats.org/drawingml/2006/main">
              <a:ext uri="{FF2B5EF4-FFF2-40B4-BE49-F238E27FC236}">
                <a16:creationId xmlns:a16="http://schemas.microsoft.com/office/drawing/2014/main" id="{EEA1C2DB-9B34-4FD6-9053-60499256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67000"/>
            <a:ext cx="1524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Show symbol table</a:t>
            </a:r>
          </a:p>
        </p:txBody>
      </p:sp>
      <p:sp>
        <p:nvSpPr>
          <p:cNvPr id="12" name="node-Generate IR">
            <a:extLst xmlns:a="http://schemas.openxmlformats.org/drawingml/2006/main">
              <a:ext uri="{FF2B5EF4-FFF2-40B4-BE49-F238E27FC236}">
                <a16:creationId xmlns:a16="http://schemas.microsoft.com/office/drawing/2014/main" id="{2DF7DF48-A9F5-4574-874E-779F7617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1524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Generate IR</a:t>
            </a:r>
          </a:p>
        </p:txBody>
      </p:sp>
      <p:sp>
        <p:nvSpPr>
          <p:cNvPr id="13" name="node-Run final output">
            <a:extLst xmlns:a="http://schemas.openxmlformats.org/drawingml/2006/main">
              <a:ext uri="{FF2B5EF4-FFF2-40B4-BE49-F238E27FC236}">
                <a16:creationId xmlns:a16="http://schemas.microsoft.com/office/drawing/2014/main" id="{33FD2947-8163-43F2-AC96-F93FD830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667000"/>
            <a:ext cx="15240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5"/>
          </a:solidFill>
          <a:ln xmlns:a="http://schemas.openxmlformats.org/drawingml/2006/main" w="19050">
            <a:solidFill>
              <a:srgbClr val="B65F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7"/>
                </a:solidFill>
              </a:defRPr>
            </a:pPr>
            <a:r>
              <a:rPr sz="1125" b="1">
                <a:solidFill>
                  <a:srgbClr val="FFFDF7"/>
                </a:solidFill>
              </a:rPr>
              <a:t>Run final output</a:t>
            </a:r>
          </a:p>
        </p:txBody>
      </p:sp>
      <p:cxnSp>
        <p:nvCxnSpPr>
          <p:cNvPr id="33" name=""/>
          <p:cNvCxnSpPr>
            <a:stCxn xmlns:a="http://schemas.openxmlformats.org/drawingml/2006/main" id="8" idx="6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286000" y="29813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143375" y="29813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  <p:cxnSp>
        <p:nvCxnSpPr>
          <p:cNvPr id="35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000750" y="29813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858125" y="29813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12" idx="3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9715500" y="29813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5C69024-0124-4C69-B23F-C2D8B083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822"/>
                </a:solidFill>
              </a:defRPr>
            </a:pPr>
            <a:r>
              <a:rPr sz="1500" b="1">
                <a:solidFill>
                  <a:srgbClr val="202822"/>
                </a:solidFill>
              </a:rPr>
              <a:t>The audience sees the same program move through every compiler stage, making the architecture easy to verify.</a:t>
            </a:r>
          </a:p>
        </p:txBody>
      </p:sp>
    </p:spTree>
    <p:extLst>
      <p:ext uri="{BB962C8B-B14F-4D97-AF65-F5344CB8AC3E}">
        <p14:creationId xmlns:p14="http://schemas.microsoft.com/office/powerpoint/2010/main" val="18984142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DF44FA4B-C663-4742-9403-F5556AE6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5B45"/>
                </a:solidFill>
              </a:defRPr>
            </a:pPr>
            <a:r>
              <a:rPr sz="900" b="1">
                <a:solidFill>
                  <a:srgbClr val="2E5B45"/>
                </a:solidFill>
              </a:rPr>
              <a:t>MINIPASCAL · CSE 303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E47B166-102B-4F6B-BA14-DE472A8B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22"/>
                </a:solidFill>
              </a:defRPr>
            </a:pPr>
            <a:r>
              <a:rPr sz="2550" b="1">
                <a:solidFill>
                  <a:srgbClr val="202822"/>
                </a:solidFill>
              </a:rPr>
              <a:t>Complete Work Plan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F19B0BE-F97A-404C-8326-87E49977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2"/>
          </a:solidFill>
          <a:ln xmlns:a="http://schemas.openxmlformats.org/drawingml/2006/main" w="14288">
            <a:solidFill>
              <a:srgbClr val="202822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85770B5-709E-4FBD-9007-0D7A7508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169"/>
                </a:solidFill>
              </a:defRPr>
            </a:pPr>
            <a:r>
              <a:rPr sz="750" b="0">
                <a:solidFill>
                  <a:srgbClr val="697169"/>
                </a:solidFill>
              </a:rPr>
              <a:t>MIST  |  CSE 303  |  Compiler Design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77EB8DB-A342-4146-A7C8-196AE76F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97169"/>
                </a:solidFill>
              </a:defRPr>
            </a:pPr>
            <a:r>
              <a:rPr sz="750" b="0">
                <a:solidFill>
                  <a:srgbClr val="697169"/>
                </a:solidFill>
              </a:rPr>
              <a:t>16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501AF99-A732-465C-894F-E2A1C700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F45"/>
                </a:solidFill>
              </a:defRPr>
            </a:pPr>
            <a:r>
              <a:rPr sz="900" b="1">
                <a:solidFill>
                  <a:srgbClr val="B65F45"/>
                </a:solidFill>
              </a:rPr>
              <a:t>FLOW 10 / 10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994EE14-60CA-49EE-A440-AD9487A7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3430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169"/>
                </a:solidFill>
              </a:defRPr>
            </a:pPr>
            <a:r>
              <a:rPr sz="1275" b="0">
                <a:solidFill>
                  <a:srgbClr val="697169"/>
                </a:solidFill>
              </a:rPr>
              <a:t>Build the compiler incrementally</a:t>
            </a:r>
          </a:p>
        </p:txBody>
      </p:sp>
      <p:sp>
        <p:nvSpPr>
          <p:cNvPr id="8" name="node-1&#10;Lexer">
            <a:extLst xmlns:a="http://schemas.openxmlformats.org/drawingml/2006/main">
              <a:ext uri="{FF2B5EF4-FFF2-40B4-BE49-F238E27FC236}">
                <a16:creationId xmlns:a16="http://schemas.microsoft.com/office/drawing/2014/main" id="{60BA1506-4513-4E7D-B8CA-FC93BFEF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1</a:t>
            </a:r>
          </a:p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Lexer</a:t>
            </a:r>
          </a:p>
        </p:txBody>
      </p:sp>
      <p:sp>
        <p:nvSpPr>
          <p:cNvPr id="9" name="node-2&#10;Parser + AST">
            <a:extLst xmlns:a="http://schemas.openxmlformats.org/drawingml/2006/main">
              <a:ext uri="{FF2B5EF4-FFF2-40B4-BE49-F238E27FC236}">
                <a16:creationId xmlns:a16="http://schemas.microsoft.com/office/drawing/2014/main" id="{59D4B10F-E2D4-42AD-835B-A2B2491B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28600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2</a:t>
            </a:r>
          </a:p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Parser + AST</a:t>
            </a:r>
          </a:p>
        </p:txBody>
      </p:sp>
      <p:sp>
        <p:nvSpPr>
          <p:cNvPr id="10" name="node-3&#10;Semantic">
            <a:extLst xmlns:a="http://schemas.openxmlformats.org/drawingml/2006/main">
              <a:ext uri="{FF2B5EF4-FFF2-40B4-BE49-F238E27FC236}">
                <a16:creationId xmlns:a16="http://schemas.microsoft.com/office/drawing/2014/main" id="{A97ADE65-337C-448D-9833-23C3E3E4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8600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3</a:t>
            </a:r>
          </a:p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Semantic</a:t>
            </a:r>
          </a:p>
        </p:txBody>
      </p:sp>
      <p:sp>
        <p:nvSpPr>
          <p:cNvPr id="11" name="node-4&#10;IR">
            <a:extLst xmlns:a="http://schemas.openxmlformats.org/drawingml/2006/main">
              <a:ext uri="{FF2B5EF4-FFF2-40B4-BE49-F238E27FC236}">
                <a16:creationId xmlns:a16="http://schemas.microsoft.com/office/drawing/2014/main" id="{38A44B08-DCA7-4C2E-94E8-197B79F6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E5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4</a:t>
            </a:r>
          </a:p>
          <a:p xmlns:a="http://schemas.openxmlformats.org/drawingml/2006/main">
            <a:pPr algn="ctr">
              <a:defRPr sz="1125" b="1">
                <a:solidFill>
                  <a:srgbClr val="202822"/>
                </a:solidFill>
              </a:defRPr>
            </a:pPr>
            <a:r>
              <a:rPr sz="1125" b="1">
                <a:solidFill>
                  <a:srgbClr val="202822"/>
                </a:solidFill>
              </a:rPr>
              <a:t>IR</a:t>
            </a:r>
          </a:p>
        </p:txBody>
      </p:sp>
      <p:sp>
        <p:nvSpPr>
          <p:cNvPr id="12" name="node-5&#10;Backend + CLI">
            <a:extLst xmlns:a="http://schemas.openxmlformats.org/drawingml/2006/main">
              <a:ext uri="{FF2B5EF4-FFF2-40B4-BE49-F238E27FC236}">
                <a16:creationId xmlns:a16="http://schemas.microsoft.com/office/drawing/2014/main" id="{6393ABE6-3C49-47B5-96FF-FBA5C065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86000"/>
            <a:ext cx="171450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5"/>
          </a:solidFill>
          <a:ln xmlns:a="http://schemas.openxmlformats.org/drawingml/2006/main" w="19050">
            <a:solidFill>
              <a:srgbClr val="B65F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7"/>
                </a:solidFill>
              </a:defRPr>
            </a:pPr>
            <a:r>
              <a:rPr sz="1125" b="1">
                <a:solidFill>
                  <a:srgbClr val="FFFDF7"/>
                </a:solidFill>
              </a:rPr>
              <a:t>5</a:t>
            </a:r>
          </a:p>
          <a:p xmlns:a="http://schemas.openxmlformats.org/drawingml/2006/main">
            <a:pPr algn="ctr">
              <a:defRPr sz="1125" b="1">
                <a:solidFill>
                  <a:srgbClr val="FFFDF7"/>
                </a:solidFill>
              </a:defRPr>
            </a:pPr>
            <a:r>
              <a:rPr sz="1125" b="1">
                <a:solidFill>
                  <a:srgbClr val="FFFDF7"/>
                </a:solidFill>
              </a:rPr>
              <a:t>Backend + CLI</a:t>
            </a:r>
          </a:p>
        </p:txBody>
      </p: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381250" y="26765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619625" y="26765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858000" y="26765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11" idx="3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9096375" y="26765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5B45"/>
            </a:solidFill>
            <a:prstDash val="solid"/>
            <a:tailEnd type="arrow" w="med" len="med"/>
          </a:ln>
        </p:spPr>
      </p:cxn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7525534-6DE0-4A8B-B8BE-AD34F14D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F45"/>
                </a:solidFill>
              </a:defRPr>
            </a:pPr>
            <a:r>
              <a:rPr sz="900" b="1">
                <a:solidFill>
                  <a:srgbClr val="B65F45"/>
                </a:solidFill>
              </a:rPr>
              <a:t>PRESENTATION 1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5E07595-ECC8-44FC-97C6-534E1BC9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822"/>
                </a:solidFill>
              </a:defRPr>
            </a:pPr>
            <a:r>
              <a:rPr sz="1275" b="0">
                <a:solidFill>
                  <a:srgbClr val="202822"/>
                </a:solidFill>
              </a:rPr>
              <a:t>Language, goals, architecture and team plan.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5D2E2B5-64CC-44DB-A488-9F4861D9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00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5B45"/>
                </a:solidFill>
              </a:defRPr>
            </a:pPr>
            <a:r>
              <a:rPr sz="900" b="1">
                <a:solidFill>
                  <a:srgbClr val="2E5B45"/>
                </a:solidFill>
              </a:rPr>
              <a:t>PRESENTATION 2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4D0993C-439A-425C-B8DA-91881142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3434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822"/>
                </a:solidFill>
              </a:defRPr>
            </a:pPr>
            <a:r>
              <a:rPr sz="1275" b="0">
                <a:solidFill>
                  <a:srgbClr val="202822"/>
                </a:solidFill>
              </a:rPr>
              <a:t>Lexer/parser, semantic design and IR strategy.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446BC29-D555-4E30-A3A9-F74DE05C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00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5B45"/>
                </a:solidFill>
              </a:defRPr>
            </a:pPr>
            <a:r>
              <a:rPr sz="900" b="1">
                <a:solidFill>
                  <a:srgbClr val="2E5B45"/>
                </a:solidFill>
              </a:rPr>
              <a:t>PRESENTATION 3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E9F025E-6CD5-41BB-B741-5EA38268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434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822"/>
                </a:solidFill>
              </a:defRPr>
            </a:pPr>
            <a:r>
              <a:rPr sz="1275" b="0">
                <a:solidFill>
                  <a:srgbClr val="202822"/>
                </a:solidFill>
              </a:rPr>
              <a:t>Implementation, testing, generated output and demo.</a:t>
            </a:r>
          </a:p>
        </p:txBody>
      </p:sp>
    </p:spTree>
    <p:extLst>
      <p:ext uri="{BB962C8B-B14F-4D97-AF65-F5344CB8AC3E}">
        <p14:creationId xmlns:p14="http://schemas.microsoft.com/office/powerpoint/2010/main" val="20337578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97FAED07-A68B-4CB5-AD85-3720E01E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B45"/>
          </a:solidFill>
          <a:ln xmlns:a="http://schemas.openxmlformats.org/drawingml/2006/main" w="14288">
            <a:solidFill>
              <a:srgbClr val="2E5B45"/>
            </a:solidFill>
            <a:prstDash val="solid"/>
          </a:ln>
        </p:spPr>
      </p:sp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43DD064F-9620-4564-A6ED-EB286A28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00425"/>
            <a:ext cx="742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45"/>
          </a:solidFill>
          <a:ln xmlns:a="http://schemas.openxmlformats.org/drawingml/2006/main" w="14288">
            <a:solidFill>
              <a:srgbClr val="B65F45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A2BE47E-FE8C-4707-A3E6-2364FD2A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81250"/>
            <a:ext cx="1219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202822"/>
                </a:solidFill>
              </a:defRPr>
            </a:pPr>
            <a:r>
              <a:rPr sz="4350" b="1">
                <a:solidFill>
                  <a:srgbClr val="202822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17766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2026-08-29T14:25:56.4930000Z</dcterms:created>
  <dcterms:modified xsi:type="dcterms:W3CDTF">2026-08-29T14:25:56.4930000Z</dcterms:modified>
</coreProperties>
</file>