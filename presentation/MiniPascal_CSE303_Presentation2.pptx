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saying the compiler exists as a project. These slides report on that project; they are not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under a minute. The demo is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column 02. Say P3 and P4 are empty folders in the plan, not missing features of this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x := y parses with no declaration of y: that is a semantic question. The parser's job is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arrow with your hand: characters, words, tree. Stop before 'meaning' and 'code'.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tree on the laptop if you can. Point at presentation/ last, so it is clear the PPTX is an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trick to mention: after digits, '..' must not become a real number. 1..10 is three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playground or CLI here if you want a live token dump. This table is the same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show parseAssignOrCall if someone asks how writeln(a) is not an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language the parser implements. Full Pascal (records, pointers, units) is out of scope for the course dialect.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tree is the only artifact presentation 3 should need. No need to re-lex.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live. Also mention factorial.pas (function + locals) if there 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close of the technical demo. Three errors, three positions, no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the playground as the assignment. It is a viewer for the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technical story here. Invite questions on the frontend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asks about codegen, say it is timeline 4 and the AST is already the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B08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2942"/>
                </a:solidFill>
                <a:latin typeface="Calibri"/>
              </a:rPr>
              <a:t>CSE303  ·  COMPILER DESIGN  ·  PRESENTATION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C1914"/>
                </a:solidFill>
                <a:latin typeface="Georgia"/>
              </a:rPr>
              <a:t>MiniPascal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A453C"/>
                </a:solidFill>
                <a:latin typeface="Calibri"/>
              </a:rPr>
              <a:t>A Flex scanner, a Bison parser, and an AST in C —</a:t>
            </a:r>
          </a:p>
          <a:p>
            <a:pPr algn="l"/>
            <a:r>
              <a:rPr sz="2200" b="0" i="0">
                <a:solidFill>
                  <a:srgbClr val="4A453C"/>
                </a:solidFill>
                <a:latin typeface="Calibri"/>
              </a:rPr>
              <a:t>built first as a compiler, then described by these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53C"/>
                </a:solidFill>
                <a:latin typeface="Calibri"/>
              </a:rPr>
              <a:t>Scope of this talk: timeline 2 only. Semantics and code generation are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What we will show from the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Where timeline 2 sits in the compiler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What the project actually implements — and what it refuses to do yet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Lexer: Flex patterns, comments, the 1..10 trap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Parser: Bison grammar, precedence, AST actions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Live proof: samples/gcd.pas and samples/broken.pas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Handoff to timeline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The project stops after phase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3EEE4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74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BBFAA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BBFAA"/>
                </a:solidFill>
                <a:latin typeface="Calibri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97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4"/>
                </a:solidFill>
                <a:latin typeface="Georgia"/>
              </a:rPr>
              <a:t>Language and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53C"/>
                </a:solidFill>
                <a:latin typeface="Calibri"/>
              </a:rPr>
              <a:t>Named the MiniPascal subset and the four-phase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EFE6D6"/>
          </a:solidFill>
          <a:ln>
            <a:solidFill>
              <a:srgbClr val="8B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874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2942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THIS TALK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697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4"/>
                </a:solidFill>
                <a:latin typeface="Georgia"/>
              </a:rPr>
              <a:t>Lexer and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53C"/>
                </a:solidFill>
                <a:latin typeface="Calibri"/>
              </a:rPr>
              <a:t>Flex scanner, Bison parser, AST, diagnostics with line and column.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9164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3EEE4"/>
          </a:solidFill>
          <a:ln>
            <a:solidFill>
              <a:srgbClr val="B08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874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08948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8948"/>
                </a:solidFill>
                <a:latin typeface="Calibri"/>
              </a:rPr>
              <a:t>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697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4"/>
                </a:solidFill>
                <a:latin typeface="Georgia"/>
              </a:rPr>
              <a:t>Semantic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53C"/>
                </a:solidFill>
                <a:latin typeface="Calibri"/>
              </a:rPr>
              <a:t>Symbol tables, types, declaration-before-use. Input is today's AST.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69164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3EEE4"/>
          </a:solidFill>
          <a:ln>
            <a:solidFill>
              <a:srgbClr val="4A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1874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453C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53C"/>
                </a:solidFill>
                <a:latin typeface="Calibri"/>
              </a:rPr>
              <a:t>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697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4"/>
                </a:solidFill>
                <a:latin typeface="Georgia"/>
              </a:rPr>
              <a:t>Code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3794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53C"/>
                </a:solidFill>
                <a:latin typeface="Calibri"/>
              </a:rPr>
              <a:t>Walk a typed tree and emit a simple target. Not in this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Scope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Built for timeline 2 — nothing more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EFE6D6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73152" cy="438912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92224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2942"/>
                </a:solidFill>
                <a:latin typeface="Georgia"/>
              </a:rPr>
              <a:t>In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76272"/>
            <a:ext cx="515721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Hand-written lexer with line and column.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Recursive-descent parser for MiniPascal.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Typed AST with source spans.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Diagnostics for lex and parse errors.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CLI, unit tests, and a playground that calls the same compiler.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EFE6D6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73152" cy="4389120"/>
          </a:xfrm>
          <a:prstGeom prst="rect">
            <a:avLst/>
          </a:prstGeom>
          <a:solidFill>
            <a:srgbClr val="B08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92224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8948"/>
                </a:solidFill>
                <a:latin typeface="Georgia"/>
              </a:rPr>
              <a:t>Not in this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76272"/>
            <a:ext cx="515721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No symbol table.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No type checking.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No “undeclared identifier” errors.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No intermediate code.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No target machine or interpreter.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Using an undeclared name is still a legal syntax tree.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Pipeline we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flex lexer.l   +   bison parser.y   +   gcc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965960" cy="1554480"/>
          </a:xfrm>
          <a:prstGeom prst="roundRect">
            <a:avLst>
              <a:gd name="adj" fmla="val 12000"/>
            </a:avLst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1914"/>
                </a:solidFill>
                <a:latin typeface="Georgia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914"/>
                </a:solidFill>
                <a:latin typeface="Calibri"/>
              </a:rPr>
              <a:t>.pas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894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94560"/>
            <a:ext cx="1965960" cy="1554480"/>
          </a:xfrm>
          <a:prstGeom prst="roundRect">
            <a:avLst>
              <a:gd name="adj" fmla="val 12000"/>
            </a:avLst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Lexer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lex.yy.c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894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194560"/>
            <a:ext cx="1965960" cy="1554480"/>
          </a:xfrm>
          <a:prstGeom prst="roundRect">
            <a:avLst>
              <a:gd name="adj" fmla="val 12000"/>
            </a:avLst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1914"/>
                </a:solidFill>
                <a:latin typeface="Georgia"/>
              </a:rPr>
              <a:t>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914"/>
                </a:solidFill>
                <a:latin typeface="Calibri"/>
              </a:rPr>
              <a:t>kind + span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8948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194560"/>
            <a:ext cx="1965960" cy="1554480"/>
          </a:xfrm>
          <a:prstGeom prst="roundRect">
            <a:avLst>
              <a:gd name="adj" fmla="val 12000"/>
            </a:avLst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parser.tab.c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8948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194560"/>
            <a:ext cx="1965960" cy="1554480"/>
          </a:xfrm>
          <a:prstGeom prst="roundRect">
            <a:avLst>
              <a:gd name="adj" fmla="val 12000"/>
            </a:avLst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2468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1914"/>
                </a:solidFill>
                <a:latin typeface="Georgia"/>
              </a:rPr>
              <a:t>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914"/>
                </a:solidFill>
                <a:latin typeface="Calibri"/>
              </a:rPr>
              <a:t>Program node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453C"/>
                </a:solidFill>
                <a:latin typeface="Calibri"/>
              </a:rPr>
              <a:t>Flex generates the scanner. Bison generates the LALR parser.</a:t>
            </a:r>
          </a:p>
          <a:p>
            <a:pPr algn="l"/>
            <a:r>
              <a:rPr sz="1600" b="0" i="0">
                <a:solidFill>
                  <a:srgbClr val="4A453C"/>
                </a:solidFill>
                <a:latin typeface="Calibri"/>
              </a:rPr>
              <a:t>We write the patterns, the grammar, and the AST actions.</a:t>
            </a:r>
          </a:p>
          <a:p>
            <a:pPr algn="l"/>
            <a:r>
              <a:rPr sz="1600" b="0" i="0">
                <a:solidFill>
                  <a:srgbClr val="4A453C"/>
                </a:solidFill>
                <a:latin typeface="Calibri"/>
              </a:rPr>
              <a:t>Errors print a line and column. We do not type-check in this phase.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What is in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The slides sit beside the compiler, not around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compiler/lexer.l — Flex scanner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compiler/parser.y — Bison grammar and AST actions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compiler/ast.c — Program, statements, expressions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./minipascal file.pas   and   ./minipascal --tokens file.pas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samples/gcd.pas, factorial.pas, bubble.pas, broken.pas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presentation/MiniPascal_CSE303_Presentation2.pptx — this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53C"/>
                </a:solidFill>
                <a:latin typeface="Calibri"/>
              </a:rPr>
              <a:t>make test checks the sample programs and that 1..10 tokenizes as a range.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Lexer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compiler/lexer.l · Flex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EFE6D6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73152" cy="429768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92224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2942"/>
                </a:solidFill>
                <a:latin typeface="Georgia"/>
              </a:rPr>
              <a:t>Recognizes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76272"/>
            <a:ext cx="332841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Keywords, case-insensitive.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Identifiers and literals.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:=  &lt;&gt;  &lt;=  &gt;=  ..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{ }  (* *)  and line comments.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Pascal strings: 'it''s'.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45920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EFE6D6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45920"/>
            <a:ext cx="73152" cy="4297680"/>
          </a:xfrm>
          <a:prstGeom prst="rect">
            <a:avLst/>
          </a:prstGeom>
          <a:solidFill>
            <a:srgbClr val="B08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792224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8948"/>
                </a:solidFill>
                <a:latin typeface="Georgia"/>
              </a:rPr>
              <a:t>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176272"/>
            <a:ext cx="332841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Token kind.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Original lexeme.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Start line and column.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End line and column.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Numeric value for integers and reals.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EFE6D6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73152" cy="4297680"/>
          </a:xfrm>
          <a:prstGeom prst="rect">
            <a:avLst/>
          </a:prstGeom>
          <a:solidFill>
            <a:srgbClr val="4A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92224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453C"/>
                </a:solidFill>
                <a:latin typeface="Georgia"/>
              </a:rPr>
              <a:t>Rejects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76272"/>
            <a:ext cx="332841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Unexpected characters.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Unterminated strings.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Unterminated comments.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A real with a broken exponent.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Each error keeps a source 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Tokens from samples/gcd.pas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First lines of a real program in the 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10789920" cy="384048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002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002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Lexeme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38528"/>
            <a:ext cx="10789920" cy="384048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9842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842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program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22576"/>
            <a:ext cx="10789920" cy="384048"/>
          </a:xfrm>
          <a:prstGeom prst="rect">
            <a:avLst/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6829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3682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3682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Gcd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06624"/>
            <a:ext cx="10789920" cy="384048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523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7523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523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var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90672"/>
            <a:ext cx="10789920" cy="384048"/>
          </a:xfrm>
          <a:prstGeom prst="rect">
            <a:avLst/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363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1363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136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a , b , 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474720"/>
            <a:ext cx="10789920" cy="384048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5204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WHILE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52044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while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858768"/>
            <a:ext cx="10789920" cy="384048"/>
          </a:xfrm>
          <a:prstGeom prst="rect">
            <a:avLst/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044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90448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NEQ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9044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&lt;&gt;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242816"/>
            <a:ext cx="10789920" cy="384048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8853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28853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MOD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2885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mod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626864"/>
            <a:ext cx="10789920" cy="384048"/>
          </a:xfrm>
          <a:prstGeom prst="rect">
            <a:avLst/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6725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67258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STRING_LIT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6725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gcd =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010912"/>
            <a:ext cx="10789920" cy="384048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05663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0566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DOT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056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4"/>
                </a:solidFill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Parser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compiler/parser.y · Bison LALR(1)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Each nonterminal is a Bison rule: program, declarations, statement, expression…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After an identifier, ':=' is assignment and '(' is a call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else binds to the nearest if (%nonassoc THEN / ELSE)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Precedence: or, and, relops, + −, * / div mod, then unary not / + / −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yyerror prints the line and column; error_count becomes the exit status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Actions allocate AST nodes. Later phases walk that tree.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Grammar we accept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Teaching MiniPascal, not full Pascal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program      ::=  program ident ';' declarations subprograms compound '.'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declarations ::=  [ var (ident-list ':' type ';')+ ]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type         ::=  integer | real | boolean | char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           |    array '[' int '..' int ']' of standard-type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subprogram   ::=  function ident args ':' type ';' … compound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           |    procedure ident args ';' … compound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statement    ::=  assign | call | begin-end | if | while | for | return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if           ::=  if expr then stmt [ else stmt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AST we hand to timeline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From samples/gcd.pas after a successful parse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Program Gcd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Declarations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  VarDecl   a, b, t : integer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BeginEnd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  Call      read(a, b)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  While     b &lt;&gt; 0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    Assign  t := b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    Assign  b := a mod b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    Assign  a := t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  Call      writeln('gcd = ', 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Demo — accepted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./minipascal samples/gcd.pas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program Gcd;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var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a, b, t: integer;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begin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read(a, b);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while b &lt;&gt; 0 do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begin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  t := b;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  b := a mod b;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  a := t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end;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  writeln('gcd = ', a)</a:t>
            </a:r>
          </a:p>
          <a:p>
            <a:pPr algn="l"/>
            <a:r>
              <a:rPr sz="1600" b="0" i="0">
                <a:solidFill>
                  <a:srgbClr val="1C1914"/>
                </a:solidFill>
                <a:latin typeface="Consolas"/>
              </a:rPr>
              <a:t>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EFE6D6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73152" cy="420624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792224"/>
            <a:ext cx="4791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2942"/>
                </a:solidFill>
                <a:latin typeface="Georgia"/>
              </a:rPr>
              <a:t>What the frontend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2176272"/>
            <a:ext cx="479145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Exit code 0.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Token stream for the whole file.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A Program node named Gcd.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A While whose test is the &lt;&gt; operator.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mod is a keyword token, then a binary operator in the tree.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No diagnostics.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Demo — rejected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./minipascal samples/broken.pas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program Broken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var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x: integer;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begin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x := ;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  writeln(x)</a:t>
            </a:r>
          </a:p>
          <a:p>
            <a:pPr algn="l"/>
            <a:r>
              <a:rPr sz="1800" b="0" i="0">
                <a:solidFill>
                  <a:srgbClr val="1C1914"/>
                </a:solidFill>
                <a:latin typeface="Consolas"/>
              </a:rP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EFE6D6"/>
          </a:solidFill>
          <a:ln>
            <a:solidFill>
              <a:srgbClr val="C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73152" cy="420624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792224"/>
            <a:ext cx="4791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2942"/>
                </a:solidFill>
                <a:latin typeface="Georgia"/>
              </a:rPr>
              <a:t>Diagnostics the parser emits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2176272"/>
            <a:ext cx="479145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2:1  Expected ';' after the program name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5:8  Expected an expression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8:1  A MiniPascal program must end with '.'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Exit code 1.</a:t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453C"/>
                </a:solidFill>
                <a:latin typeface="Calibri"/>
              </a:rPr>
              <a:t>A partial tree may still exist after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How we run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VS Code terminal, or any Unix shell / WSL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C1914"/>
                </a:solidFill>
                <a:latin typeface="Calibri"/>
              </a:rPr>
              <a:t>sudo apt install build-essential flex bison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C1914"/>
                </a:solidFill>
                <a:latin typeface="Calibri"/>
              </a:rPr>
              <a:t>make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C1914"/>
                </a:solidFill>
                <a:latin typeface="Calibri"/>
              </a:rPr>
              <a:t>./minipascal samples/gcd.pas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C1914"/>
                </a:solidFill>
                <a:latin typeface="Calibri"/>
              </a:rPr>
              <a:t>./minipascal --tokens samples/gcd.pas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C1914"/>
                </a:solidFill>
                <a:latin typeface="Calibri"/>
              </a:rPr>
              <a:t>./minipascal samples/broken.pas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C1914"/>
                </a:solidFill>
                <a:latin typeface="Calibri"/>
              </a:rPr>
              <a:t>make 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2942"/>
                </a:solidFill>
                <a:latin typeface="Calibri"/>
              </a:rPr>
              <a:t>CSE303  ·  MINIPASCAL COMPILER  ·  PRESENTATION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914"/>
                </a:solidFill>
                <a:latin typeface="Georgia"/>
              </a:rPr>
              <a:t>What timeline 3 will take from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53C"/>
                </a:solidFill>
                <a:latin typeface="Calibri"/>
              </a:rPr>
              <a:t>The AST is the hand-off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Walk Program, Subprogram, and Compound with a scoped symbol table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Insert every VarDecl and parameter before checking uses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Type-check Assign, Call, If, While, For, and operators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Reject undeclared names and mismatched operands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C1914"/>
                </a:solidFill>
                <a:latin typeface="Calibri"/>
              </a:rPr>
              <a:t>Leave code generation for timeline 4 — still a tree walk, now on a typed 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B2942"/>
                </a:solidFill>
                <a:latin typeface="Calibri"/>
              </a:rPr>
              <a:t>We will not rewrite the lexer or the parser for that talk.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B08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C1914"/>
                </a:solidFill>
                <a:latin typeface="Georgia"/>
              </a:rPr>
              <a:t>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A453C"/>
                </a:solidFill>
                <a:latin typeface="Calibri"/>
              </a:rPr>
              <a:t>The compiler is the project.</a:t>
            </a:r>
          </a:p>
          <a:p>
            <a:pPr algn="l"/>
            <a:r>
              <a:rPr sz="2200" b="0" i="0">
                <a:solidFill>
                  <a:srgbClr val="4A453C"/>
                </a:solidFill>
                <a:latin typeface="Calibri"/>
              </a:rPr>
              <a:t>These slides only explain timeline 2 of that compiler.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2942"/>
                </a:solidFill>
                <a:latin typeface="Calibri"/>
              </a:rPr>
              <a:t>CSE303 MiniPascal  ·  Presentation 2  ·  lexer + parser + 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